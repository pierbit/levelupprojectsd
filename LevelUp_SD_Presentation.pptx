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3410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txBox="1"/>
          <p:nvPr/>
        </p:nvSpPr>
        <p:spPr>
          <a:xfrm>
            <a:off x="822960" y="2103120"/>
            <a:ext cx="10515600" cy="1188720"/>
          </a:xfrm>
          <a:prstGeom prst="rect">
            <a:avLst/>
          </a:prstGeom>
          <a:noFill/>
          <a:ln/>
        </p:spPr>
        <p:txBody>
          <a:bodyPr wrap="square" lIns="0" tIns="0" rIns="0" bIns="0" rtlCol="0" anchor="ctr"/>
          <a:lstStyle/>
          <a:p>
            <a:pPr marL="0" indent="0">
              <a:buNone/>
            </a:pPr>
            <a:r>
              <a:rPr lang="en-US" sz="5400" b="1" dirty="0">
                <a:solidFill>
                  <a:srgbClr val="FFFFFF"/>
                </a:solidFill>
                <a:latin typeface="Cambria" pitchFamily="34" charset="0"/>
                <a:ea typeface="Cambria" pitchFamily="34" charset="-122"/>
                <a:cs typeface="Cambria" pitchFamily="34" charset="-120"/>
              </a:rPr>
              <a:t>LevelUp</a:t>
            </a:r>
            <a:endParaRPr lang="en-US" sz="5400" dirty="0"/>
          </a:p>
        </p:txBody>
      </p:sp>
      <p:sp>
        <p:nvSpPr>
          <p:cNvPr id="3" name="Text 1"/>
          <p:cNvSpPr txBox="1"/>
          <p:nvPr/>
        </p:nvSpPr>
        <p:spPr>
          <a:xfrm>
            <a:off x="822960" y="3200400"/>
            <a:ext cx="10515600" cy="640080"/>
          </a:xfrm>
          <a:prstGeom prst="rect">
            <a:avLst/>
          </a:prstGeom>
          <a:noFill/>
          <a:ln/>
        </p:spPr>
        <p:txBody>
          <a:bodyPr wrap="square" lIns="0" tIns="0" rIns="0" bIns="0" rtlCol="0" anchor="ctr"/>
          <a:lstStyle/>
          <a:p>
            <a:pPr marL="0" indent="0">
              <a:buNone/>
            </a:pPr>
            <a:r>
              <a:rPr lang="en-US" sz="2200" dirty="0">
                <a:solidFill>
                  <a:srgbClr val="CADCFC"/>
                </a:solidFill>
                <a:latin typeface="Calibri" pitchFamily="34" charset="0"/>
                <a:ea typeface="Calibri" pitchFamily="34" charset="-122"/>
                <a:cs typeface="Calibri" pitchFamily="34" charset="-120"/>
              </a:rPr>
              <a:t>Software Dependability Presentation</a:t>
            </a:r>
            <a:endParaRPr lang="en-US" sz="2200" dirty="0"/>
          </a:p>
        </p:txBody>
      </p:sp>
      <p:sp>
        <p:nvSpPr>
          <p:cNvPr id="4" name="Shape 2"/>
          <p:cNvSpPr/>
          <p:nvPr/>
        </p:nvSpPr>
        <p:spPr>
          <a:xfrm>
            <a:off x="822960" y="3977640"/>
            <a:ext cx="2011680" cy="36576"/>
          </a:xfrm>
          <a:prstGeom prst="rect">
            <a:avLst/>
          </a:prstGeom>
          <a:solidFill>
            <a:srgbClr val="CADCFC"/>
          </a:solidFill>
          <a:ln/>
        </p:spPr>
        <p:txBody>
          <a:bodyPr/>
          <a:lstStyle/>
          <a:p>
            <a:endParaRPr lang="en-US"/>
          </a:p>
        </p:txBody>
      </p:sp>
      <p:sp>
        <p:nvSpPr>
          <p:cNvPr id="5" name="Text 3"/>
          <p:cNvSpPr txBox="1"/>
          <p:nvPr/>
        </p:nvSpPr>
        <p:spPr>
          <a:xfrm>
            <a:off x="822960" y="5669280"/>
            <a:ext cx="73152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Pierpaolo Cammardella</a:t>
            </a:r>
            <a:endParaRPr lang="en-US" sz="1600" dirty="0"/>
          </a:p>
        </p:txBody>
      </p:sp>
      <p:sp>
        <p:nvSpPr>
          <p:cNvPr id="6" name="Text 4"/>
          <p:cNvSpPr txBox="1"/>
          <p:nvPr/>
        </p:nvSpPr>
        <p:spPr>
          <a:xfrm>
            <a:off x="822960" y="6035040"/>
            <a:ext cx="9144000" cy="365760"/>
          </a:xfrm>
          <a:prstGeom prst="rect">
            <a:avLst/>
          </a:prstGeom>
          <a:noFill/>
          <a:ln/>
        </p:spPr>
        <p:txBody>
          <a:bodyPr wrap="square" lIns="0" tIns="0" rIns="0" bIns="0" rtlCol="0" anchor="ctr"/>
          <a:lstStyle/>
          <a:p>
            <a:pPr marL="0" indent="0">
              <a:buNone/>
            </a:pPr>
            <a:r>
              <a:rPr lang="en-US" sz="1300" dirty="0">
                <a:solidFill>
                  <a:srgbClr val="CADCFC"/>
                </a:solidFill>
                <a:latin typeface="Calibri" pitchFamily="34" charset="0"/>
                <a:ea typeface="Calibri" pitchFamily="34" charset="-122"/>
                <a:cs typeface="Calibri" pitchFamily="34" charset="-120"/>
              </a:rPr>
              <a:t>Università degli Studi di Salerno - Dipartimento di Informatica</a:t>
            </a:r>
            <a:endParaRPr lang="en-US" sz="1300" dirty="0"/>
          </a:p>
        </p:txBody>
      </p:sp>
      <p:pic>
        <p:nvPicPr>
          <p:cNvPr id="8" name="Immagine 7">
            <a:extLst>
              <a:ext uri="{FF2B5EF4-FFF2-40B4-BE49-F238E27FC236}">
                <a16:creationId xmlns:a16="http://schemas.microsoft.com/office/drawing/2014/main" id="{2A152DBD-A937-A8BD-534B-741E1DAFA9A9}"/>
              </a:ext>
            </a:extLst>
          </p:cNvPr>
          <p:cNvPicPr>
            <a:picLocks noChangeAspect="1"/>
          </p:cNvPicPr>
          <p:nvPr/>
        </p:nvPicPr>
        <p:blipFill>
          <a:blip r:embed="rId3"/>
          <a:stretch>
            <a:fillRect/>
          </a:stretch>
        </p:blipFill>
        <p:spPr>
          <a:xfrm>
            <a:off x="5394960" y="1843643"/>
            <a:ext cx="6499355" cy="309411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Context</a:t>
            </a:r>
            <a:endParaRPr lang="en-US" sz="3200" dirty="0"/>
          </a:p>
        </p:txBody>
      </p:sp>
      <p:sp>
        <p:nvSpPr>
          <p:cNvPr id="3" name="Text 1"/>
          <p:cNvSpPr txBox="1"/>
          <p:nvPr/>
        </p:nvSpPr>
        <p:spPr>
          <a:xfrm>
            <a:off x="548640" y="1371600"/>
            <a:ext cx="5852160" cy="2103120"/>
          </a:xfrm>
          <a:prstGeom prst="rect">
            <a:avLst/>
          </a:prstGeom>
          <a:noFill/>
          <a:ln/>
        </p:spPr>
        <p:txBody>
          <a:bodyPr wrap="square" lIns="0" tIns="0" rIns="0" bIns="0" rtlCol="0" anchor="t"/>
          <a:lstStyle/>
          <a:p>
            <a:pPr marL="0" indent="0">
              <a:buNone/>
            </a:pPr>
            <a:r>
              <a:rPr lang="en-US" sz="1500" dirty="0" err="1">
                <a:solidFill>
                  <a:srgbClr val="1E2761"/>
                </a:solidFill>
                <a:latin typeface="Calibri" pitchFamily="34" charset="0"/>
                <a:ea typeface="Calibri" pitchFamily="34" charset="-122"/>
                <a:cs typeface="Calibri" pitchFamily="34" charset="-120"/>
              </a:rPr>
              <a:t>LevelUp</a:t>
            </a:r>
            <a:r>
              <a:rPr lang="en-US" sz="1500" dirty="0">
                <a:solidFill>
                  <a:srgbClr val="1E2761"/>
                </a:solidFill>
                <a:latin typeface="Calibri" pitchFamily="34" charset="0"/>
                <a:ea typeface="Calibri" pitchFamily="34" charset="-122"/>
                <a:cs typeface="Calibri" pitchFamily="34" charset="-120"/>
              </a:rPr>
              <a:t> is a Java web application originally developed in 2021 for the TSW exam as an e-commerce platform to sell online courses, built with JSP, Servlets, and Apache Tomcat, backed by a MySQL database. For this context, the project was revived from a non-functional state, made buildable and testable again, and used as the target for applying the dependability techniques covered by the course.</a:t>
            </a:r>
            <a:endParaRPr lang="en-US" sz="1500" dirty="0"/>
          </a:p>
        </p:txBody>
      </p:sp>
      <p:sp>
        <p:nvSpPr>
          <p:cNvPr id="4" name="Shape 2"/>
          <p:cNvSpPr/>
          <p:nvPr/>
        </p:nvSpPr>
        <p:spPr>
          <a:xfrm>
            <a:off x="548640" y="3657600"/>
            <a:ext cx="146304" cy="146304"/>
          </a:xfrm>
          <a:prstGeom prst="ellipse">
            <a:avLst/>
          </a:prstGeom>
          <a:solidFill>
            <a:srgbClr val="1E2761"/>
          </a:solidFill>
          <a:ln/>
        </p:spPr>
        <p:txBody>
          <a:bodyPr/>
          <a:lstStyle/>
          <a:p>
            <a:endParaRPr lang="en-US"/>
          </a:p>
        </p:txBody>
      </p:sp>
      <p:sp>
        <p:nvSpPr>
          <p:cNvPr id="5" name="Text 3"/>
          <p:cNvSpPr txBox="1"/>
          <p:nvPr/>
        </p:nvSpPr>
        <p:spPr>
          <a:xfrm>
            <a:off x="868680" y="3538728"/>
            <a:ext cx="530352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Java Servlets + JSP</a:t>
            </a:r>
            <a:endParaRPr lang="en-US" sz="1400" dirty="0"/>
          </a:p>
        </p:txBody>
      </p:sp>
      <p:sp>
        <p:nvSpPr>
          <p:cNvPr id="6" name="Shape 4"/>
          <p:cNvSpPr/>
          <p:nvPr/>
        </p:nvSpPr>
        <p:spPr>
          <a:xfrm>
            <a:off x="548640" y="4160520"/>
            <a:ext cx="146304" cy="146304"/>
          </a:xfrm>
          <a:prstGeom prst="ellipse">
            <a:avLst/>
          </a:prstGeom>
          <a:solidFill>
            <a:srgbClr val="1E2761"/>
          </a:solidFill>
          <a:ln/>
        </p:spPr>
        <p:txBody>
          <a:bodyPr/>
          <a:lstStyle/>
          <a:p>
            <a:endParaRPr lang="en-US"/>
          </a:p>
        </p:txBody>
      </p:sp>
      <p:sp>
        <p:nvSpPr>
          <p:cNvPr id="7" name="Text 5"/>
          <p:cNvSpPr txBox="1"/>
          <p:nvPr/>
        </p:nvSpPr>
        <p:spPr>
          <a:xfrm>
            <a:off x="868680" y="4041648"/>
            <a:ext cx="530352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Apache Tomcat 9</a:t>
            </a:r>
            <a:endParaRPr lang="en-US" sz="1400" dirty="0"/>
          </a:p>
        </p:txBody>
      </p:sp>
      <p:sp>
        <p:nvSpPr>
          <p:cNvPr id="8" name="Shape 6"/>
          <p:cNvSpPr/>
          <p:nvPr/>
        </p:nvSpPr>
        <p:spPr>
          <a:xfrm>
            <a:off x="548640" y="4663440"/>
            <a:ext cx="146304" cy="146304"/>
          </a:xfrm>
          <a:prstGeom prst="ellipse">
            <a:avLst/>
          </a:prstGeom>
          <a:solidFill>
            <a:srgbClr val="1E2761"/>
          </a:solidFill>
          <a:ln/>
        </p:spPr>
        <p:txBody>
          <a:bodyPr/>
          <a:lstStyle/>
          <a:p>
            <a:endParaRPr lang="en-US"/>
          </a:p>
        </p:txBody>
      </p:sp>
      <p:sp>
        <p:nvSpPr>
          <p:cNvPr id="9" name="Text 7"/>
          <p:cNvSpPr txBox="1"/>
          <p:nvPr/>
        </p:nvSpPr>
        <p:spPr>
          <a:xfrm>
            <a:off x="868680" y="4544568"/>
            <a:ext cx="530352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MySQL</a:t>
            </a:r>
            <a:endParaRPr lang="en-US" sz="1400" dirty="0"/>
          </a:p>
        </p:txBody>
      </p:sp>
      <p:sp>
        <p:nvSpPr>
          <p:cNvPr id="10" name="Shape 8"/>
          <p:cNvSpPr/>
          <p:nvPr/>
        </p:nvSpPr>
        <p:spPr>
          <a:xfrm>
            <a:off x="548640" y="5166360"/>
            <a:ext cx="146304" cy="146304"/>
          </a:xfrm>
          <a:prstGeom prst="ellipse">
            <a:avLst/>
          </a:prstGeom>
          <a:solidFill>
            <a:srgbClr val="1E2761"/>
          </a:solidFill>
          <a:ln/>
        </p:spPr>
        <p:txBody>
          <a:bodyPr/>
          <a:lstStyle/>
          <a:p>
            <a:endParaRPr lang="en-US"/>
          </a:p>
        </p:txBody>
      </p:sp>
      <p:sp>
        <p:nvSpPr>
          <p:cNvPr id="11" name="Text 9"/>
          <p:cNvSpPr txBox="1"/>
          <p:nvPr/>
        </p:nvSpPr>
        <p:spPr>
          <a:xfrm>
            <a:off x="868680" y="5047488"/>
            <a:ext cx="530352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Maven build</a:t>
            </a:r>
            <a:endParaRPr lang="en-US" sz="1400" dirty="0"/>
          </a:p>
        </p:txBody>
      </p:sp>
      <p:sp>
        <p:nvSpPr>
          <p:cNvPr id="12" name="Shape 10"/>
          <p:cNvSpPr/>
          <p:nvPr/>
        </p:nvSpPr>
        <p:spPr>
          <a:xfrm>
            <a:off x="6949440" y="1371600"/>
            <a:ext cx="4663440" cy="4206240"/>
          </a:xfrm>
          <a:prstGeom prst="roundRect">
            <a:avLst>
              <a:gd name="adj" fmla="val 2609"/>
            </a:avLst>
          </a:prstGeom>
          <a:solidFill>
            <a:srgbClr val="F7F9FC"/>
          </a:solidFill>
          <a:ln/>
        </p:spPr>
        <p:txBody>
          <a:bodyPr/>
          <a:lstStyle/>
          <a:p>
            <a:endParaRPr lang="en-US"/>
          </a:p>
        </p:txBody>
      </p:sp>
      <p:sp>
        <p:nvSpPr>
          <p:cNvPr id="13" name="Text 11"/>
          <p:cNvSpPr txBox="1"/>
          <p:nvPr/>
        </p:nvSpPr>
        <p:spPr>
          <a:xfrm>
            <a:off x="7223760" y="1737360"/>
            <a:ext cx="4114800" cy="914400"/>
          </a:xfrm>
          <a:prstGeom prst="rect">
            <a:avLst/>
          </a:prstGeom>
          <a:noFill/>
          <a:ln/>
        </p:spPr>
        <p:txBody>
          <a:bodyPr wrap="square" lIns="0" tIns="0" rIns="0" bIns="0" rtlCol="0" anchor="ctr"/>
          <a:lstStyle/>
          <a:p>
            <a:pPr marL="0" indent="0">
              <a:buNone/>
            </a:pPr>
            <a:r>
              <a:rPr lang="en-US" sz="5600" b="1" dirty="0">
                <a:solidFill>
                  <a:srgbClr val="1E2761"/>
                </a:solidFill>
                <a:latin typeface="Cambria" pitchFamily="34" charset="0"/>
                <a:ea typeface="Cambria" pitchFamily="34" charset="-122"/>
                <a:cs typeface="Cambria" pitchFamily="34" charset="-120"/>
              </a:rPr>
              <a:t>2021</a:t>
            </a:r>
            <a:endParaRPr lang="en-US" sz="5600" dirty="0"/>
          </a:p>
        </p:txBody>
      </p:sp>
      <p:sp>
        <p:nvSpPr>
          <p:cNvPr id="14" name="Text 12"/>
          <p:cNvSpPr txBox="1"/>
          <p:nvPr/>
        </p:nvSpPr>
        <p:spPr>
          <a:xfrm>
            <a:off x="7223760" y="2606040"/>
            <a:ext cx="4114800" cy="365760"/>
          </a:xfrm>
          <a:prstGeom prst="rect">
            <a:avLst/>
          </a:prstGeom>
          <a:noFill/>
          <a:ln/>
        </p:spPr>
        <p:txBody>
          <a:bodyPr wrap="square" lIns="0" tIns="0" rIns="0" bIns="0" rtlCol="0" anchor="ctr"/>
          <a:lstStyle/>
          <a:p>
            <a:pPr marL="0" indent="0">
              <a:buNone/>
            </a:pPr>
            <a:r>
              <a:rPr lang="en-US" sz="1300" dirty="0">
                <a:solidFill>
                  <a:srgbClr val="5B6B8C"/>
                </a:solidFill>
                <a:latin typeface="Calibri" pitchFamily="34" charset="0"/>
                <a:ea typeface="Calibri" pitchFamily="34" charset="-122"/>
                <a:cs typeface="Calibri" pitchFamily="34" charset="-120"/>
              </a:rPr>
              <a:t>Original project built</a:t>
            </a:r>
            <a:endParaRPr lang="en-US" sz="1300" dirty="0"/>
          </a:p>
        </p:txBody>
      </p:sp>
      <p:sp>
        <p:nvSpPr>
          <p:cNvPr id="15" name="Text 13"/>
          <p:cNvSpPr txBox="1"/>
          <p:nvPr/>
        </p:nvSpPr>
        <p:spPr>
          <a:xfrm>
            <a:off x="7223760" y="3200400"/>
            <a:ext cx="4114800" cy="914400"/>
          </a:xfrm>
          <a:prstGeom prst="rect">
            <a:avLst/>
          </a:prstGeom>
          <a:noFill/>
          <a:ln/>
        </p:spPr>
        <p:txBody>
          <a:bodyPr wrap="square" lIns="0" tIns="0" rIns="0" bIns="0" rtlCol="0" anchor="ctr"/>
          <a:lstStyle/>
          <a:p>
            <a:pPr marL="0" indent="0">
              <a:buNone/>
            </a:pPr>
            <a:r>
              <a:rPr lang="en-US" sz="4400" b="1" dirty="0">
                <a:solidFill>
                  <a:srgbClr val="1E2761"/>
                </a:solidFill>
                <a:latin typeface="Cambria" pitchFamily="34" charset="0"/>
                <a:ea typeface="Cambria" pitchFamily="34" charset="-122"/>
                <a:cs typeface="Cambria" pitchFamily="34" charset="-120"/>
              </a:rPr>
              <a:t>0 → 80+</a:t>
            </a:r>
            <a:endParaRPr lang="en-US" sz="4400" dirty="0"/>
          </a:p>
        </p:txBody>
      </p:sp>
      <p:sp>
        <p:nvSpPr>
          <p:cNvPr id="16" name="Text 14"/>
          <p:cNvSpPr txBox="1"/>
          <p:nvPr/>
        </p:nvSpPr>
        <p:spPr>
          <a:xfrm>
            <a:off x="7223760" y="4023360"/>
            <a:ext cx="4114800" cy="457200"/>
          </a:xfrm>
          <a:prstGeom prst="rect">
            <a:avLst/>
          </a:prstGeom>
          <a:noFill/>
          <a:ln/>
        </p:spPr>
        <p:txBody>
          <a:bodyPr wrap="square" lIns="0" tIns="0" rIns="0" bIns="0" rtlCol="0" anchor="ctr"/>
          <a:lstStyle/>
          <a:p>
            <a:pPr marL="0" indent="0">
              <a:buNone/>
            </a:pPr>
            <a:r>
              <a:rPr lang="en-US" sz="1300" dirty="0">
                <a:solidFill>
                  <a:srgbClr val="5B6B8C"/>
                </a:solidFill>
                <a:latin typeface="Calibri" pitchFamily="34" charset="0"/>
                <a:ea typeface="Calibri" pitchFamily="34" charset="-122"/>
                <a:cs typeface="Calibri" pitchFamily="34" charset="-120"/>
              </a:rPr>
              <a:t>Working test suite built from scratch</a:t>
            </a:r>
            <a:endParaRPr lang="en-US" sz="1300" dirty="0"/>
          </a:p>
        </p:txBody>
      </p:sp>
      <p:sp>
        <p:nvSpPr>
          <p:cNvPr id="17" name="Text 15"/>
          <p:cNvSpPr txBox="1"/>
          <p:nvPr/>
        </p:nvSpPr>
        <p:spPr>
          <a:xfrm>
            <a:off x="7223760" y="4663440"/>
            <a:ext cx="4114800" cy="54864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Non-functional → deployed</a:t>
            </a:r>
            <a:endParaRPr lang="en-US" sz="2400" dirty="0"/>
          </a:p>
        </p:txBody>
      </p:sp>
      <p:sp>
        <p:nvSpPr>
          <p:cNvPr id="18" name="Text 16"/>
          <p:cNvSpPr txBox="1"/>
          <p:nvPr/>
        </p:nvSpPr>
        <p:spPr>
          <a:xfrm>
            <a:off x="7223760" y="5212080"/>
            <a:ext cx="4114800" cy="365760"/>
          </a:xfrm>
          <a:prstGeom prst="rect">
            <a:avLst/>
          </a:prstGeom>
          <a:noFill/>
          <a:ln/>
        </p:spPr>
        <p:txBody>
          <a:bodyPr wrap="square" lIns="0" tIns="0" rIns="0" bIns="0" rtlCol="0" anchor="ctr"/>
          <a:lstStyle/>
          <a:p>
            <a:pPr marL="0" indent="0">
              <a:buNone/>
            </a:pPr>
            <a:r>
              <a:rPr lang="en-US" sz="1300" dirty="0">
                <a:solidFill>
                  <a:srgbClr val="5B6B8C"/>
                </a:solidFill>
                <a:latin typeface="Calibri" pitchFamily="34" charset="0"/>
                <a:ea typeface="Calibri" pitchFamily="34" charset="-122"/>
                <a:cs typeface="Calibri" pitchFamily="34" charset="-120"/>
              </a:rPr>
              <a:t>Containerized &amp; running end to end</a:t>
            </a:r>
            <a:endParaRPr lang="en-US" sz="1300" dirty="0"/>
          </a:p>
        </p:txBody>
      </p:sp>
      <p:sp>
        <p:nvSpPr>
          <p:cNvPr id="19" name="Text 17"/>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20" name="Text 18"/>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Goals</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500" dirty="0">
                <a:solidFill>
                  <a:srgbClr val="5B6B8C"/>
                </a:solidFill>
                <a:latin typeface="Calibri" pitchFamily="34" charset="0"/>
                <a:ea typeface="Calibri" pitchFamily="34" charset="-122"/>
                <a:cs typeface="Calibri" pitchFamily="34" charset="-120"/>
              </a:rPr>
              <a:t>Apply a full pipeline of dependability techniques to a real, untested codebase.</a:t>
            </a:r>
            <a:endParaRPr lang="en-US" sz="1500" dirty="0"/>
          </a:p>
        </p:txBody>
      </p:sp>
      <p:sp>
        <p:nvSpPr>
          <p:cNvPr id="4" name="Shape 2"/>
          <p:cNvSpPr/>
          <p:nvPr/>
        </p:nvSpPr>
        <p:spPr>
          <a:xfrm>
            <a:off x="640080" y="1920240"/>
            <a:ext cx="384048" cy="384048"/>
          </a:xfrm>
          <a:prstGeom prst="ellipse">
            <a:avLst/>
          </a:prstGeom>
          <a:solidFill>
            <a:srgbClr val="1E2761"/>
          </a:solidFill>
          <a:ln/>
        </p:spPr>
        <p:txBody>
          <a:bodyPr/>
          <a:lstStyle/>
          <a:p>
            <a:endParaRPr lang="en-US"/>
          </a:p>
        </p:txBody>
      </p:sp>
      <p:sp>
        <p:nvSpPr>
          <p:cNvPr id="5" name="Text 3"/>
          <p:cNvSpPr txBox="1"/>
          <p:nvPr/>
        </p:nvSpPr>
        <p:spPr>
          <a:xfrm>
            <a:off x="640080" y="192024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88720" y="1901952"/>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Buildable locally and in CI/CD</a:t>
            </a:r>
            <a:endParaRPr lang="en-US" sz="1400" dirty="0"/>
          </a:p>
        </p:txBody>
      </p:sp>
      <p:sp>
        <p:nvSpPr>
          <p:cNvPr id="7" name="Shape 5"/>
          <p:cNvSpPr/>
          <p:nvPr/>
        </p:nvSpPr>
        <p:spPr>
          <a:xfrm>
            <a:off x="640080" y="2761488"/>
            <a:ext cx="384048" cy="384048"/>
          </a:xfrm>
          <a:prstGeom prst="ellipse">
            <a:avLst/>
          </a:prstGeom>
          <a:solidFill>
            <a:srgbClr val="1E2761"/>
          </a:solidFill>
          <a:ln/>
        </p:spPr>
        <p:txBody>
          <a:bodyPr/>
          <a:lstStyle/>
          <a:p>
            <a:endParaRPr lang="en-US"/>
          </a:p>
        </p:txBody>
      </p:sp>
      <p:sp>
        <p:nvSpPr>
          <p:cNvPr id="8" name="Text 6"/>
          <p:cNvSpPr txBox="1"/>
          <p:nvPr/>
        </p:nvSpPr>
        <p:spPr>
          <a:xfrm>
            <a:off x="640080" y="276148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188720" y="2743200"/>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Formal specification (JML) verified with OpenJML</a:t>
            </a:r>
            <a:endParaRPr lang="en-US" sz="1400" dirty="0"/>
          </a:p>
        </p:txBody>
      </p:sp>
      <p:sp>
        <p:nvSpPr>
          <p:cNvPr id="10" name="Shape 8"/>
          <p:cNvSpPr/>
          <p:nvPr/>
        </p:nvSpPr>
        <p:spPr>
          <a:xfrm>
            <a:off x="640080" y="3602736"/>
            <a:ext cx="384048" cy="384048"/>
          </a:xfrm>
          <a:prstGeom prst="ellipse">
            <a:avLst/>
          </a:prstGeom>
          <a:solidFill>
            <a:srgbClr val="1E2761"/>
          </a:solidFill>
          <a:ln/>
        </p:spPr>
        <p:txBody>
          <a:bodyPr/>
          <a:lstStyle/>
          <a:p>
            <a:endParaRPr lang="en-US"/>
          </a:p>
        </p:txBody>
      </p:sp>
      <p:sp>
        <p:nvSpPr>
          <p:cNvPr id="11" name="Text 9"/>
          <p:cNvSpPr txBox="1"/>
          <p:nvPr/>
        </p:nvSpPr>
        <p:spPr>
          <a:xfrm>
            <a:off x="640080" y="360273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188720" y="3584448"/>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Docker image, orchestrated via Compose</a:t>
            </a:r>
            <a:endParaRPr lang="en-US" sz="1400" dirty="0"/>
          </a:p>
        </p:txBody>
      </p:sp>
      <p:sp>
        <p:nvSpPr>
          <p:cNvPr id="13" name="Shape 11"/>
          <p:cNvSpPr/>
          <p:nvPr/>
        </p:nvSpPr>
        <p:spPr>
          <a:xfrm>
            <a:off x="640080" y="4443984"/>
            <a:ext cx="384048" cy="384048"/>
          </a:xfrm>
          <a:prstGeom prst="ellipse">
            <a:avLst/>
          </a:prstGeom>
          <a:solidFill>
            <a:srgbClr val="1E2761"/>
          </a:solidFill>
          <a:ln/>
        </p:spPr>
        <p:txBody>
          <a:bodyPr/>
          <a:lstStyle/>
          <a:p>
            <a:endParaRPr lang="en-US"/>
          </a:p>
        </p:txBody>
      </p:sp>
      <p:sp>
        <p:nvSpPr>
          <p:cNvPr id="14" name="Text 12"/>
          <p:cNvSpPr txBox="1"/>
          <p:nvPr/>
        </p:nvSpPr>
        <p:spPr>
          <a:xfrm>
            <a:off x="640080" y="4443984"/>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5" name="Text 13"/>
          <p:cNvSpPr txBox="1"/>
          <p:nvPr/>
        </p:nvSpPr>
        <p:spPr>
          <a:xfrm>
            <a:off x="1188720" y="4425696"/>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Creating Test Suite</a:t>
            </a:r>
            <a:endParaRPr lang="en-US" sz="1400" dirty="0"/>
          </a:p>
        </p:txBody>
      </p:sp>
      <p:sp>
        <p:nvSpPr>
          <p:cNvPr id="16" name="Shape 14"/>
          <p:cNvSpPr/>
          <p:nvPr/>
        </p:nvSpPr>
        <p:spPr>
          <a:xfrm>
            <a:off x="640080" y="5285232"/>
            <a:ext cx="384048" cy="384048"/>
          </a:xfrm>
          <a:prstGeom prst="ellipse">
            <a:avLst/>
          </a:prstGeom>
          <a:solidFill>
            <a:srgbClr val="1E2761"/>
          </a:solidFill>
          <a:ln/>
        </p:spPr>
        <p:txBody>
          <a:bodyPr/>
          <a:lstStyle/>
          <a:p>
            <a:endParaRPr lang="en-US"/>
          </a:p>
        </p:txBody>
      </p:sp>
      <p:sp>
        <p:nvSpPr>
          <p:cNvPr id="17" name="Text 15"/>
          <p:cNvSpPr txBox="1"/>
          <p:nvPr/>
        </p:nvSpPr>
        <p:spPr>
          <a:xfrm>
            <a:off x="640080" y="528523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8" name="Text 16"/>
          <p:cNvSpPr txBox="1"/>
          <p:nvPr/>
        </p:nvSpPr>
        <p:spPr>
          <a:xfrm>
            <a:off x="1188720" y="5266944"/>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Code coverage analysis</a:t>
            </a:r>
            <a:endParaRPr lang="en-US" sz="1400" dirty="0"/>
          </a:p>
        </p:txBody>
      </p:sp>
      <p:sp>
        <p:nvSpPr>
          <p:cNvPr id="19" name="Shape 17"/>
          <p:cNvSpPr/>
          <p:nvPr/>
        </p:nvSpPr>
        <p:spPr>
          <a:xfrm>
            <a:off x="6400800" y="1920240"/>
            <a:ext cx="384048" cy="384048"/>
          </a:xfrm>
          <a:prstGeom prst="ellipse">
            <a:avLst/>
          </a:prstGeom>
          <a:solidFill>
            <a:srgbClr val="1E2761"/>
          </a:solidFill>
          <a:ln/>
        </p:spPr>
        <p:txBody>
          <a:bodyPr/>
          <a:lstStyle/>
          <a:p>
            <a:endParaRPr lang="en-US"/>
          </a:p>
        </p:txBody>
      </p:sp>
      <p:sp>
        <p:nvSpPr>
          <p:cNvPr id="20" name="Text 18"/>
          <p:cNvSpPr txBox="1"/>
          <p:nvPr/>
        </p:nvSpPr>
        <p:spPr>
          <a:xfrm>
            <a:off x="6400800" y="192024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1" name="Text 19"/>
          <p:cNvSpPr txBox="1"/>
          <p:nvPr/>
        </p:nvSpPr>
        <p:spPr>
          <a:xfrm>
            <a:off x="6949440" y="1901952"/>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Mutation testing campaign </a:t>
            </a:r>
            <a:endParaRPr lang="en-US" sz="1400" dirty="0"/>
          </a:p>
        </p:txBody>
      </p:sp>
      <p:sp>
        <p:nvSpPr>
          <p:cNvPr id="22" name="Shape 20"/>
          <p:cNvSpPr/>
          <p:nvPr/>
        </p:nvSpPr>
        <p:spPr>
          <a:xfrm>
            <a:off x="6400800" y="2761488"/>
            <a:ext cx="384048" cy="384048"/>
          </a:xfrm>
          <a:prstGeom prst="ellipse">
            <a:avLst/>
          </a:prstGeom>
          <a:solidFill>
            <a:srgbClr val="1E2761"/>
          </a:solidFill>
          <a:ln/>
        </p:spPr>
        <p:txBody>
          <a:bodyPr/>
          <a:lstStyle/>
          <a:p>
            <a:endParaRPr lang="en-US"/>
          </a:p>
        </p:txBody>
      </p:sp>
      <p:sp>
        <p:nvSpPr>
          <p:cNvPr id="23" name="Text 21"/>
          <p:cNvSpPr txBox="1"/>
          <p:nvPr/>
        </p:nvSpPr>
        <p:spPr>
          <a:xfrm>
            <a:off x="6400800" y="276148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949440" y="2743200"/>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Performance benchmarking</a:t>
            </a:r>
            <a:endParaRPr lang="en-US" sz="1400" dirty="0"/>
          </a:p>
        </p:txBody>
      </p:sp>
      <p:sp>
        <p:nvSpPr>
          <p:cNvPr id="25" name="Shape 23"/>
          <p:cNvSpPr/>
          <p:nvPr/>
        </p:nvSpPr>
        <p:spPr>
          <a:xfrm>
            <a:off x="6400800" y="3602736"/>
            <a:ext cx="384048" cy="384048"/>
          </a:xfrm>
          <a:prstGeom prst="ellipse">
            <a:avLst/>
          </a:prstGeom>
          <a:solidFill>
            <a:srgbClr val="1E2761"/>
          </a:solidFill>
          <a:ln/>
        </p:spPr>
        <p:txBody>
          <a:bodyPr/>
          <a:lstStyle/>
          <a:p>
            <a:endParaRPr lang="en-US"/>
          </a:p>
        </p:txBody>
      </p:sp>
      <p:sp>
        <p:nvSpPr>
          <p:cNvPr id="26" name="Text 24"/>
          <p:cNvSpPr txBox="1"/>
          <p:nvPr/>
        </p:nvSpPr>
        <p:spPr>
          <a:xfrm>
            <a:off x="6400800" y="360273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27" name="Text 25"/>
          <p:cNvSpPr txBox="1"/>
          <p:nvPr/>
        </p:nvSpPr>
        <p:spPr>
          <a:xfrm>
            <a:off x="6949440" y="3584448"/>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Security mechanisms in CI/CD</a:t>
            </a:r>
            <a:endParaRPr lang="en-US" sz="1400" dirty="0"/>
          </a:p>
        </p:txBody>
      </p:sp>
      <p:sp>
        <p:nvSpPr>
          <p:cNvPr id="28" name="Shape 26"/>
          <p:cNvSpPr/>
          <p:nvPr/>
        </p:nvSpPr>
        <p:spPr>
          <a:xfrm>
            <a:off x="6400800" y="4443984"/>
            <a:ext cx="384048" cy="384048"/>
          </a:xfrm>
          <a:prstGeom prst="ellipse">
            <a:avLst/>
          </a:prstGeom>
          <a:solidFill>
            <a:srgbClr val="1E2761"/>
          </a:solidFill>
          <a:ln/>
        </p:spPr>
        <p:txBody>
          <a:bodyPr/>
          <a:lstStyle/>
          <a:p>
            <a:endParaRPr lang="en-US"/>
          </a:p>
        </p:txBody>
      </p:sp>
      <p:sp>
        <p:nvSpPr>
          <p:cNvPr id="29" name="Text 27"/>
          <p:cNvSpPr txBox="1"/>
          <p:nvPr/>
        </p:nvSpPr>
        <p:spPr>
          <a:xfrm>
            <a:off x="6400800" y="4443984"/>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9</a:t>
            </a:r>
            <a:endParaRPr lang="en-US" sz="1600" dirty="0"/>
          </a:p>
        </p:txBody>
      </p:sp>
      <p:sp>
        <p:nvSpPr>
          <p:cNvPr id="30" name="Text 28"/>
          <p:cNvSpPr txBox="1"/>
          <p:nvPr/>
        </p:nvSpPr>
        <p:spPr>
          <a:xfrm>
            <a:off x="6949440" y="4425696"/>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Security analysis (GitGuardian, Snyk, SonarCloud)</a:t>
            </a:r>
            <a:endParaRPr lang="en-US" sz="1400" dirty="0"/>
          </a:p>
        </p:txBody>
      </p:sp>
      <p:sp>
        <p:nvSpPr>
          <p:cNvPr id="31" name="Shape 29"/>
          <p:cNvSpPr/>
          <p:nvPr/>
        </p:nvSpPr>
        <p:spPr>
          <a:xfrm>
            <a:off x="6400800" y="5285232"/>
            <a:ext cx="384048" cy="384048"/>
          </a:xfrm>
          <a:prstGeom prst="ellipse">
            <a:avLst/>
          </a:prstGeom>
          <a:solidFill>
            <a:srgbClr val="1E2761"/>
          </a:solidFill>
          <a:ln/>
        </p:spPr>
        <p:txBody>
          <a:bodyPr/>
          <a:lstStyle/>
          <a:p>
            <a:endParaRPr lang="en-US"/>
          </a:p>
        </p:txBody>
      </p:sp>
      <p:sp>
        <p:nvSpPr>
          <p:cNvPr id="32" name="Text 30"/>
          <p:cNvSpPr txBox="1"/>
          <p:nvPr/>
        </p:nvSpPr>
        <p:spPr>
          <a:xfrm>
            <a:off x="6400800" y="528523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a:t>
            </a:r>
            <a:endParaRPr lang="en-US" sz="1600" dirty="0"/>
          </a:p>
        </p:txBody>
      </p:sp>
      <p:sp>
        <p:nvSpPr>
          <p:cNvPr id="33" name="Text 31"/>
          <p:cNvSpPr txBox="1"/>
          <p:nvPr/>
        </p:nvSpPr>
        <p:spPr>
          <a:xfrm>
            <a:off x="6949440" y="5266944"/>
            <a:ext cx="4389120" cy="54864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No unresolved vulnerabilities</a:t>
            </a:r>
            <a:endParaRPr lang="en-US" sz="1400" dirty="0"/>
          </a:p>
        </p:txBody>
      </p:sp>
      <p:sp>
        <p:nvSpPr>
          <p:cNvPr id="34" name="Text 32"/>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35" name="Text 33"/>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Methodology and Roadmap</a:t>
            </a:r>
            <a:endParaRPr lang="en-US" sz="3200" dirty="0"/>
          </a:p>
        </p:txBody>
      </p:sp>
      <p:sp>
        <p:nvSpPr>
          <p:cNvPr id="3" name="Text 1"/>
          <p:cNvSpPr txBox="1"/>
          <p:nvPr/>
        </p:nvSpPr>
        <p:spPr>
          <a:xfrm>
            <a:off x="548640" y="1234440"/>
            <a:ext cx="10515600" cy="457200"/>
          </a:xfrm>
          <a:prstGeom prst="rect">
            <a:avLst/>
          </a:prstGeom>
          <a:noFill/>
          <a:ln/>
        </p:spPr>
        <p:txBody>
          <a:bodyPr wrap="square" lIns="0" tIns="0" rIns="0" bIns="0" rtlCol="0" anchor="ctr"/>
          <a:lstStyle/>
          <a:p>
            <a:pPr marL="0" indent="0">
              <a:buNone/>
            </a:pPr>
            <a:r>
              <a:rPr lang="en-US" sz="1500" dirty="0">
                <a:solidFill>
                  <a:srgbClr val="5B6B8C"/>
                </a:solidFill>
                <a:latin typeface="Calibri" pitchFamily="34" charset="0"/>
                <a:ea typeface="Calibri" pitchFamily="34" charset="-122"/>
                <a:cs typeface="Calibri" pitchFamily="34" charset="-120"/>
              </a:rPr>
              <a:t>Ten checklist items, applied in sequence, each building on the last.</a:t>
            </a:r>
            <a:endParaRPr lang="en-US" sz="1500" dirty="0"/>
          </a:p>
        </p:txBody>
      </p:sp>
      <p:sp>
        <p:nvSpPr>
          <p:cNvPr id="4" name="Shape 2"/>
          <p:cNvSpPr/>
          <p:nvPr/>
        </p:nvSpPr>
        <p:spPr>
          <a:xfrm>
            <a:off x="548640" y="3017520"/>
            <a:ext cx="1157859" cy="1371600"/>
          </a:xfrm>
          <a:prstGeom prst="roundRect">
            <a:avLst>
              <a:gd name="adj" fmla="val 7897"/>
            </a:avLst>
          </a:prstGeom>
          <a:solidFill>
            <a:srgbClr val="1E2761"/>
          </a:solidFill>
          <a:ln/>
        </p:spPr>
        <p:txBody>
          <a:bodyPr/>
          <a:lstStyle/>
          <a:p>
            <a:endParaRPr lang="en-US"/>
          </a:p>
        </p:txBody>
      </p:sp>
      <p:sp>
        <p:nvSpPr>
          <p:cNvPr id="5" name="Text 3"/>
          <p:cNvSpPr txBox="1"/>
          <p:nvPr/>
        </p:nvSpPr>
        <p:spPr>
          <a:xfrm>
            <a:off x="548640" y="3017520"/>
            <a:ext cx="1157859" cy="13716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Build</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&amp; CI/CD</a:t>
            </a:r>
            <a:endParaRPr lang="en-US" sz="1250" dirty="0"/>
          </a:p>
        </p:txBody>
      </p:sp>
      <p:sp>
        <p:nvSpPr>
          <p:cNvPr id="6" name="Text 4"/>
          <p:cNvSpPr txBox="1"/>
          <p:nvPr/>
        </p:nvSpPr>
        <p:spPr>
          <a:xfrm>
            <a:off x="1706499" y="3017520"/>
            <a:ext cx="228600" cy="1371600"/>
          </a:xfrm>
          <a:prstGeom prst="rect">
            <a:avLst/>
          </a:prstGeom>
          <a:noFill/>
          <a:ln/>
        </p:spPr>
        <p:txBody>
          <a:bodyPr wrap="square" lIns="0" tIns="0" rIns="0" bIns="0" rtlCol="0" anchor="ctr"/>
          <a:lstStyle/>
          <a:p>
            <a:pPr marL="0" indent="0" algn="ctr">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1935099" y="3017520"/>
            <a:ext cx="1157859" cy="1371600"/>
          </a:xfrm>
          <a:prstGeom prst="roundRect">
            <a:avLst>
              <a:gd name="adj" fmla="val 7897"/>
            </a:avLst>
          </a:prstGeom>
          <a:solidFill>
            <a:srgbClr val="CADCFC"/>
          </a:solidFill>
          <a:ln/>
        </p:spPr>
        <p:txBody>
          <a:bodyPr/>
          <a:lstStyle/>
          <a:p>
            <a:endParaRPr lang="en-US"/>
          </a:p>
        </p:txBody>
      </p:sp>
      <p:sp>
        <p:nvSpPr>
          <p:cNvPr id="8" name="Text 6"/>
          <p:cNvSpPr txBox="1"/>
          <p:nvPr/>
        </p:nvSpPr>
        <p:spPr>
          <a:xfrm>
            <a:off x="1935099" y="3017520"/>
            <a:ext cx="1157859" cy="13716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JML</a:t>
            </a:r>
            <a:endParaRPr lang="en-US" sz="1250" dirty="0"/>
          </a:p>
          <a:p>
            <a:pPr marL="0" indent="0" algn="ctr">
              <a:buNone/>
            </a:pPr>
            <a:r>
              <a:rPr lang="en-US" sz="1250" b="1" dirty="0">
                <a:solidFill>
                  <a:srgbClr val="1E2761"/>
                </a:solidFill>
                <a:latin typeface="Calibri" pitchFamily="34" charset="0"/>
                <a:ea typeface="Calibri" pitchFamily="34" charset="-122"/>
                <a:cs typeface="Calibri" pitchFamily="34" charset="-120"/>
              </a:rPr>
              <a:t>Verification</a:t>
            </a:r>
            <a:endParaRPr lang="en-US" sz="1250" dirty="0"/>
          </a:p>
        </p:txBody>
      </p:sp>
      <p:sp>
        <p:nvSpPr>
          <p:cNvPr id="9" name="Text 7"/>
          <p:cNvSpPr txBox="1"/>
          <p:nvPr/>
        </p:nvSpPr>
        <p:spPr>
          <a:xfrm>
            <a:off x="3092958" y="3017520"/>
            <a:ext cx="228600" cy="1371600"/>
          </a:xfrm>
          <a:prstGeom prst="rect">
            <a:avLst/>
          </a:prstGeom>
          <a:noFill/>
          <a:ln/>
        </p:spPr>
        <p:txBody>
          <a:bodyPr wrap="square" lIns="0" tIns="0" rIns="0" bIns="0" rtlCol="0" anchor="ctr"/>
          <a:lstStyle/>
          <a:p>
            <a:pPr marL="0" indent="0" algn="ctr">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321558" y="3017520"/>
            <a:ext cx="1157859" cy="1371600"/>
          </a:xfrm>
          <a:prstGeom prst="roundRect">
            <a:avLst>
              <a:gd name="adj" fmla="val 7897"/>
            </a:avLst>
          </a:prstGeom>
          <a:solidFill>
            <a:srgbClr val="1E2761"/>
          </a:solidFill>
          <a:ln/>
        </p:spPr>
        <p:txBody>
          <a:bodyPr/>
          <a:lstStyle/>
          <a:p>
            <a:endParaRPr lang="en-US"/>
          </a:p>
        </p:txBody>
      </p:sp>
      <p:sp>
        <p:nvSpPr>
          <p:cNvPr id="11" name="Text 9"/>
          <p:cNvSpPr txBox="1"/>
          <p:nvPr/>
        </p:nvSpPr>
        <p:spPr>
          <a:xfrm>
            <a:off x="3321558" y="3017520"/>
            <a:ext cx="1157859" cy="13716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Docker</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&amp; Compose</a:t>
            </a:r>
            <a:endParaRPr lang="en-US" sz="1250" dirty="0"/>
          </a:p>
        </p:txBody>
      </p:sp>
      <p:sp>
        <p:nvSpPr>
          <p:cNvPr id="12" name="Text 10"/>
          <p:cNvSpPr txBox="1"/>
          <p:nvPr/>
        </p:nvSpPr>
        <p:spPr>
          <a:xfrm>
            <a:off x="4479417" y="3017520"/>
            <a:ext cx="228600" cy="1371600"/>
          </a:xfrm>
          <a:prstGeom prst="rect">
            <a:avLst/>
          </a:prstGeom>
          <a:noFill/>
          <a:ln/>
        </p:spPr>
        <p:txBody>
          <a:bodyPr wrap="square" lIns="0" tIns="0" rIns="0" bIns="0" rtlCol="0" anchor="ctr"/>
          <a:lstStyle/>
          <a:p>
            <a:pPr marL="0" indent="0" algn="ctr">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3" name="Shape 11"/>
          <p:cNvSpPr/>
          <p:nvPr/>
        </p:nvSpPr>
        <p:spPr>
          <a:xfrm>
            <a:off x="4708017" y="3017520"/>
            <a:ext cx="1157859" cy="1371600"/>
          </a:xfrm>
          <a:prstGeom prst="roundRect">
            <a:avLst>
              <a:gd name="adj" fmla="val 7897"/>
            </a:avLst>
          </a:prstGeom>
          <a:solidFill>
            <a:srgbClr val="CADCFC"/>
          </a:solidFill>
          <a:ln/>
        </p:spPr>
        <p:txBody>
          <a:bodyPr/>
          <a:lstStyle/>
          <a:p>
            <a:endParaRPr lang="en-US"/>
          </a:p>
        </p:txBody>
      </p:sp>
      <p:sp>
        <p:nvSpPr>
          <p:cNvPr id="14" name="Text 12"/>
          <p:cNvSpPr txBox="1"/>
          <p:nvPr/>
        </p:nvSpPr>
        <p:spPr>
          <a:xfrm>
            <a:off x="4708017" y="3017520"/>
            <a:ext cx="1157859" cy="13716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Testing</a:t>
            </a:r>
            <a:endParaRPr lang="en-US" sz="1250" dirty="0"/>
          </a:p>
          <a:p>
            <a:pPr marL="0" indent="0" algn="ctr">
              <a:buNone/>
            </a:pPr>
            <a:r>
              <a:rPr lang="en-US" sz="1250" b="1" dirty="0">
                <a:solidFill>
                  <a:srgbClr val="1E2761"/>
                </a:solidFill>
                <a:latin typeface="Calibri" pitchFamily="34" charset="0"/>
                <a:ea typeface="Calibri" pitchFamily="34" charset="-122"/>
                <a:cs typeface="Calibri" pitchFamily="34" charset="-120"/>
              </a:rPr>
              <a:t>Suite</a:t>
            </a:r>
            <a:endParaRPr lang="en-US" sz="1250" dirty="0"/>
          </a:p>
        </p:txBody>
      </p:sp>
      <p:sp>
        <p:nvSpPr>
          <p:cNvPr id="15" name="Text 13"/>
          <p:cNvSpPr txBox="1"/>
          <p:nvPr/>
        </p:nvSpPr>
        <p:spPr>
          <a:xfrm>
            <a:off x="5865876" y="3017520"/>
            <a:ext cx="228600" cy="1371600"/>
          </a:xfrm>
          <a:prstGeom prst="rect">
            <a:avLst/>
          </a:prstGeom>
          <a:noFill/>
          <a:ln/>
        </p:spPr>
        <p:txBody>
          <a:bodyPr wrap="square" lIns="0" tIns="0" rIns="0" bIns="0" rtlCol="0" anchor="ctr"/>
          <a:lstStyle/>
          <a:p>
            <a:pPr marL="0" indent="0" algn="ctr">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094476" y="3017520"/>
            <a:ext cx="1157859" cy="1371600"/>
          </a:xfrm>
          <a:prstGeom prst="roundRect">
            <a:avLst>
              <a:gd name="adj" fmla="val 7897"/>
            </a:avLst>
          </a:prstGeom>
          <a:solidFill>
            <a:srgbClr val="1E2761"/>
          </a:solidFill>
          <a:ln/>
        </p:spPr>
        <p:txBody>
          <a:bodyPr/>
          <a:lstStyle/>
          <a:p>
            <a:endParaRPr lang="en-US"/>
          </a:p>
        </p:txBody>
      </p:sp>
      <p:sp>
        <p:nvSpPr>
          <p:cNvPr id="17" name="Text 15"/>
          <p:cNvSpPr txBox="1"/>
          <p:nvPr/>
        </p:nvSpPr>
        <p:spPr>
          <a:xfrm>
            <a:off x="6094476" y="3017520"/>
            <a:ext cx="1157859" cy="13716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Coverage</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(JaCoCo)</a:t>
            </a:r>
            <a:endParaRPr lang="en-US" sz="1250" dirty="0"/>
          </a:p>
        </p:txBody>
      </p:sp>
      <p:sp>
        <p:nvSpPr>
          <p:cNvPr id="18" name="Text 16"/>
          <p:cNvSpPr txBox="1"/>
          <p:nvPr/>
        </p:nvSpPr>
        <p:spPr>
          <a:xfrm>
            <a:off x="7252335" y="3017520"/>
            <a:ext cx="228600" cy="1371600"/>
          </a:xfrm>
          <a:prstGeom prst="rect">
            <a:avLst/>
          </a:prstGeom>
          <a:noFill/>
          <a:ln/>
        </p:spPr>
        <p:txBody>
          <a:bodyPr wrap="square" lIns="0" tIns="0" rIns="0" bIns="0" rtlCol="0" anchor="ctr"/>
          <a:lstStyle/>
          <a:p>
            <a:pPr marL="0" indent="0" algn="ctr">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7480935" y="3017520"/>
            <a:ext cx="1157859" cy="1371600"/>
          </a:xfrm>
          <a:prstGeom prst="roundRect">
            <a:avLst>
              <a:gd name="adj" fmla="val 7897"/>
            </a:avLst>
          </a:prstGeom>
          <a:solidFill>
            <a:srgbClr val="CADCFC"/>
          </a:solidFill>
          <a:ln/>
        </p:spPr>
        <p:txBody>
          <a:bodyPr/>
          <a:lstStyle/>
          <a:p>
            <a:endParaRPr lang="en-US"/>
          </a:p>
        </p:txBody>
      </p:sp>
      <p:sp>
        <p:nvSpPr>
          <p:cNvPr id="20" name="Text 18"/>
          <p:cNvSpPr txBox="1"/>
          <p:nvPr/>
        </p:nvSpPr>
        <p:spPr>
          <a:xfrm>
            <a:off x="7480935" y="3017520"/>
            <a:ext cx="1157859" cy="13716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Mutation</a:t>
            </a:r>
            <a:endParaRPr lang="en-US" sz="1250" dirty="0"/>
          </a:p>
          <a:p>
            <a:pPr marL="0" indent="0" algn="ctr">
              <a:buNone/>
            </a:pPr>
            <a:r>
              <a:rPr lang="en-US" sz="1250" b="1" dirty="0">
                <a:solidFill>
                  <a:srgbClr val="1E2761"/>
                </a:solidFill>
                <a:latin typeface="Calibri" pitchFamily="34" charset="0"/>
                <a:ea typeface="Calibri" pitchFamily="34" charset="-122"/>
                <a:cs typeface="Calibri" pitchFamily="34" charset="-120"/>
              </a:rPr>
              <a:t>(PiTest)</a:t>
            </a:r>
            <a:endParaRPr lang="en-US" sz="1250" dirty="0"/>
          </a:p>
        </p:txBody>
      </p:sp>
      <p:sp>
        <p:nvSpPr>
          <p:cNvPr id="21" name="Text 19"/>
          <p:cNvSpPr txBox="1"/>
          <p:nvPr/>
        </p:nvSpPr>
        <p:spPr>
          <a:xfrm>
            <a:off x="8638794" y="3017520"/>
            <a:ext cx="228600" cy="1371600"/>
          </a:xfrm>
          <a:prstGeom prst="rect">
            <a:avLst/>
          </a:prstGeom>
          <a:noFill/>
          <a:ln/>
        </p:spPr>
        <p:txBody>
          <a:bodyPr wrap="square" lIns="0" tIns="0" rIns="0" bIns="0" rtlCol="0" anchor="ctr"/>
          <a:lstStyle/>
          <a:p>
            <a:pPr marL="0" indent="0" algn="ctr">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8867394" y="3017520"/>
            <a:ext cx="1157859" cy="1371600"/>
          </a:xfrm>
          <a:prstGeom prst="roundRect">
            <a:avLst>
              <a:gd name="adj" fmla="val 7897"/>
            </a:avLst>
          </a:prstGeom>
          <a:solidFill>
            <a:srgbClr val="1E2761"/>
          </a:solidFill>
          <a:ln/>
        </p:spPr>
        <p:txBody>
          <a:bodyPr/>
          <a:lstStyle/>
          <a:p>
            <a:endParaRPr lang="en-US"/>
          </a:p>
        </p:txBody>
      </p:sp>
      <p:sp>
        <p:nvSpPr>
          <p:cNvPr id="23" name="Text 21"/>
          <p:cNvSpPr txBox="1"/>
          <p:nvPr/>
        </p:nvSpPr>
        <p:spPr>
          <a:xfrm>
            <a:off x="8867394" y="3017520"/>
            <a:ext cx="1157859" cy="137160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Performance</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(JMH)</a:t>
            </a:r>
            <a:endParaRPr lang="en-US" sz="1250" dirty="0"/>
          </a:p>
        </p:txBody>
      </p:sp>
      <p:sp>
        <p:nvSpPr>
          <p:cNvPr id="24" name="Text 22"/>
          <p:cNvSpPr txBox="1"/>
          <p:nvPr/>
        </p:nvSpPr>
        <p:spPr>
          <a:xfrm>
            <a:off x="10025253" y="3017520"/>
            <a:ext cx="228600" cy="1371600"/>
          </a:xfrm>
          <a:prstGeom prst="rect">
            <a:avLst/>
          </a:prstGeom>
          <a:noFill/>
          <a:ln/>
        </p:spPr>
        <p:txBody>
          <a:bodyPr wrap="square" lIns="0" tIns="0" rIns="0" bIns="0" rtlCol="0" anchor="ctr"/>
          <a:lstStyle/>
          <a:p>
            <a:pPr marL="0" indent="0" algn="ctr">
              <a:buNone/>
            </a:pPr>
            <a:r>
              <a:rPr lang="en-US" sz="1800" dirty="0">
                <a:solidFill>
                  <a:srgbClr val="5B6B8C"/>
                </a:solidFill>
                <a:latin typeface="Calibri" pitchFamily="34" charset="0"/>
                <a:ea typeface="Calibri" pitchFamily="34" charset="-122"/>
                <a:cs typeface="Calibri" pitchFamily="34" charset="-120"/>
              </a:rPr>
              <a:t>→</a:t>
            </a:r>
            <a:endParaRPr lang="en-US" sz="1800" dirty="0"/>
          </a:p>
        </p:txBody>
      </p:sp>
      <p:sp>
        <p:nvSpPr>
          <p:cNvPr id="25" name="Shape 23"/>
          <p:cNvSpPr/>
          <p:nvPr/>
        </p:nvSpPr>
        <p:spPr>
          <a:xfrm>
            <a:off x="10253853" y="3017520"/>
            <a:ext cx="1157859" cy="1371600"/>
          </a:xfrm>
          <a:prstGeom prst="roundRect">
            <a:avLst>
              <a:gd name="adj" fmla="val 7897"/>
            </a:avLst>
          </a:prstGeom>
          <a:solidFill>
            <a:srgbClr val="CADCFC"/>
          </a:solidFill>
          <a:ln/>
        </p:spPr>
        <p:txBody>
          <a:bodyPr/>
          <a:lstStyle/>
          <a:p>
            <a:endParaRPr lang="en-US"/>
          </a:p>
        </p:txBody>
      </p:sp>
      <p:sp>
        <p:nvSpPr>
          <p:cNvPr id="26" name="Text 24"/>
          <p:cNvSpPr txBox="1"/>
          <p:nvPr/>
        </p:nvSpPr>
        <p:spPr>
          <a:xfrm>
            <a:off x="10253853" y="3017520"/>
            <a:ext cx="1157859" cy="1371600"/>
          </a:xfrm>
          <a:prstGeom prst="rect">
            <a:avLst/>
          </a:prstGeom>
          <a:noFill/>
          <a:ln/>
        </p:spPr>
        <p:txBody>
          <a:bodyPr wrap="square" lIns="0" tIns="0" rIns="0" bIns="0" rtlCol="0" anchor="ctr"/>
          <a:lstStyle/>
          <a:p>
            <a:pPr marL="0" indent="0" algn="ctr">
              <a:buNone/>
            </a:pPr>
            <a:r>
              <a:rPr lang="en-US" sz="1250" b="1" dirty="0">
                <a:solidFill>
                  <a:srgbClr val="1E2761"/>
                </a:solidFill>
                <a:latin typeface="Calibri" pitchFamily="34" charset="0"/>
                <a:ea typeface="Calibri" pitchFamily="34" charset="-122"/>
                <a:cs typeface="Calibri" pitchFamily="34" charset="-120"/>
              </a:rPr>
              <a:t>Security</a:t>
            </a:r>
            <a:endParaRPr lang="en-US" sz="1250" dirty="0"/>
          </a:p>
          <a:p>
            <a:pPr marL="0" indent="0" algn="ctr">
              <a:buNone/>
            </a:pPr>
            <a:r>
              <a:rPr lang="en-US" sz="1250" b="1" dirty="0">
                <a:solidFill>
                  <a:srgbClr val="1E2761"/>
                </a:solidFill>
                <a:latin typeface="Calibri" pitchFamily="34" charset="0"/>
                <a:ea typeface="Calibri" pitchFamily="34" charset="-122"/>
                <a:cs typeface="Calibri" pitchFamily="34" charset="-120"/>
              </a:rPr>
              <a:t>(3 tools)</a:t>
            </a:r>
            <a:endParaRPr lang="en-US" sz="1250" dirty="0"/>
          </a:p>
        </p:txBody>
      </p:sp>
      <p:sp>
        <p:nvSpPr>
          <p:cNvPr id="28" name="Text 26"/>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29" name="Text 27"/>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Build &amp; Continuous Integration</a:t>
            </a:r>
            <a:endParaRPr lang="en-US" sz="3200" dirty="0"/>
          </a:p>
        </p:txBody>
      </p:sp>
      <p:sp>
        <p:nvSpPr>
          <p:cNvPr id="3" name="Text 1"/>
          <p:cNvSpPr txBox="1"/>
          <p:nvPr/>
        </p:nvSpPr>
        <p:spPr>
          <a:xfrm>
            <a:off x="548640" y="1299027"/>
            <a:ext cx="4670341" cy="4726579"/>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E2761"/>
                </a:solidFill>
                <a:latin typeface="Calibri" pitchFamily="34" charset="0"/>
                <a:ea typeface="Calibri" pitchFamily="34" charset="-122"/>
                <a:cs typeface="Calibri" pitchFamily="34" charset="-120"/>
              </a:rPr>
              <a:t>Maven build produces a deployable .war for Tomcat 9</a:t>
            </a:r>
            <a:endParaRPr lang="en-US" sz="1500" dirty="0"/>
          </a:p>
          <a:p>
            <a:pPr marL="342900" indent="-342900">
              <a:spcAft>
                <a:spcPts val="1200"/>
              </a:spcAft>
              <a:buSzPct val="100000"/>
              <a:buChar char="•"/>
            </a:pPr>
            <a:r>
              <a:rPr lang="en-US" sz="1500" dirty="0">
                <a:solidFill>
                  <a:srgbClr val="1E2761"/>
                </a:solidFill>
                <a:latin typeface="Calibri" pitchFamily="34" charset="0"/>
                <a:ea typeface="Calibri" pitchFamily="34" charset="-122"/>
                <a:cs typeface="Calibri" pitchFamily="34" charset="-120"/>
              </a:rPr>
              <a:t>GitHub Actions workflow runs automatically on every push</a:t>
            </a:r>
            <a:endParaRPr lang="en-US" sz="1500" dirty="0"/>
          </a:p>
          <a:p>
            <a:pPr marL="342900" indent="-342900">
              <a:spcAft>
                <a:spcPts val="1200"/>
              </a:spcAft>
              <a:buSzPct val="100000"/>
              <a:buChar char="•"/>
            </a:pPr>
            <a:r>
              <a:rPr lang="en-US" sz="1500" dirty="0">
                <a:solidFill>
                  <a:srgbClr val="1E2761"/>
                </a:solidFill>
                <a:latin typeface="Calibri" pitchFamily="34" charset="0"/>
                <a:ea typeface="Calibri" pitchFamily="34" charset="-122"/>
                <a:cs typeface="Calibri" pitchFamily="34" charset="-120"/>
              </a:rPr>
              <a:t>A MySQL service container is spun up in CI, initialized from schema.sql / seed.sql</a:t>
            </a:r>
            <a:endParaRPr lang="en-US" sz="1500" dirty="0"/>
          </a:p>
          <a:p>
            <a:pPr marL="342900" indent="-342900">
              <a:spcAft>
                <a:spcPts val="1200"/>
              </a:spcAft>
              <a:buSzPct val="100000"/>
              <a:buChar char="•"/>
            </a:pPr>
            <a:r>
              <a:rPr lang="en-US" sz="1500" dirty="0">
                <a:solidFill>
                  <a:srgbClr val="1E2761"/>
                </a:solidFill>
                <a:latin typeface="Calibri" pitchFamily="34" charset="0"/>
                <a:ea typeface="Calibri" pitchFamily="34" charset="-122"/>
                <a:cs typeface="Calibri" pitchFamily="34" charset="-120"/>
              </a:rPr>
              <a:t>The full JUnit suite runs against that real database</a:t>
            </a:r>
            <a:endParaRPr lang="en-US" sz="1500" dirty="0"/>
          </a:p>
        </p:txBody>
      </p:sp>
      <p:sp>
        <p:nvSpPr>
          <p:cNvPr id="6" name="Text 4"/>
          <p:cNvSpPr txBox="1"/>
          <p:nvPr/>
        </p:nvSpPr>
        <p:spPr>
          <a:xfrm>
            <a:off x="6508084" y="5840726"/>
            <a:ext cx="4114800" cy="731520"/>
          </a:xfrm>
          <a:prstGeom prst="rect">
            <a:avLst/>
          </a:prstGeom>
          <a:noFill/>
          <a:ln/>
        </p:spPr>
        <p:txBody>
          <a:bodyPr wrap="square" lIns="0" tIns="0" rIns="0" bIns="0" rtlCol="0" anchor="ctr"/>
          <a:lstStyle/>
          <a:p>
            <a:pPr marL="0" indent="0" algn="ctr">
              <a:buNone/>
            </a:pPr>
            <a:r>
              <a:rPr lang="en-US" sz="1200" i="1" dirty="0">
                <a:solidFill>
                  <a:srgbClr val="5B6B8C"/>
                </a:solidFill>
                <a:latin typeface="Calibri" pitchFamily="34" charset="0"/>
                <a:ea typeface="Calibri" pitchFamily="34" charset="-122"/>
                <a:cs typeface="Calibri" pitchFamily="34" charset="-120"/>
              </a:rPr>
              <a:t>GitHub Actions run with build job passing, MySQL service included</a:t>
            </a:r>
            <a:endParaRPr lang="en-US" sz="1200" dirty="0"/>
          </a:p>
        </p:txBody>
      </p:sp>
      <p:sp>
        <p:nvSpPr>
          <p:cNvPr id="7" name="Text 5"/>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8" name="Text 6"/>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pic>
        <p:nvPicPr>
          <p:cNvPr id="10" name="Immagine 9">
            <a:extLst>
              <a:ext uri="{FF2B5EF4-FFF2-40B4-BE49-F238E27FC236}">
                <a16:creationId xmlns:a16="http://schemas.microsoft.com/office/drawing/2014/main" id="{9279053F-07F9-0E71-4432-F39ECEE2F2F9}"/>
              </a:ext>
            </a:extLst>
          </p:cNvPr>
          <p:cNvPicPr>
            <a:picLocks noChangeAspect="1"/>
          </p:cNvPicPr>
          <p:nvPr/>
        </p:nvPicPr>
        <p:blipFill>
          <a:blip r:embed="rId3"/>
          <a:stretch>
            <a:fillRect/>
          </a:stretch>
        </p:blipFill>
        <p:spPr>
          <a:xfrm>
            <a:off x="5272580" y="1299027"/>
            <a:ext cx="6585808" cy="425994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Formal Specification (JML / OpenJML)</a:t>
            </a:r>
            <a:endParaRPr lang="en-US" sz="3200" dirty="0"/>
          </a:p>
        </p:txBody>
      </p:sp>
      <p:sp>
        <p:nvSpPr>
          <p:cNvPr id="3" name="Text 1"/>
          <p:cNvSpPr txBox="1"/>
          <p:nvPr/>
        </p:nvSpPr>
        <p:spPr>
          <a:xfrm>
            <a:off x="548640" y="1371600"/>
            <a:ext cx="10698480" cy="1005840"/>
          </a:xfrm>
          <a:prstGeom prst="rect">
            <a:avLst/>
          </a:prstGeom>
          <a:noFill/>
          <a:ln/>
        </p:spPr>
        <p:txBody>
          <a:bodyPr wrap="square" lIns="0" tIns="0" rIns="0" bIns="0" rtlCol="0" anchor="t"/>
          <a:lstStyle/>
          <a:p>
            <a:pPr marL="0" indent="0">
              <a:buNone/>
            </a:pPr>
            <a:r>
              <a:rPr lang="en-US" sz="1500" dirty="0">
                <a:solidFill>
                  <a:srgbClr val="1E2761"/>
                </a:solidFill>
                <a:latin typeface="Calibri" pitchFamily="34" charset="0"/>
                <a:ea typeface="Calibri" pitchFamily="34" charset="-122"/>
                <a:cs typeface="Calibri" pitchFamily="34" charset="-120"/>
              </a:rPr>
              <a:t>Core methods spanning pagination, request validation, cart management, and pricing were annotated with JML preconditions, postconditions, and invariants, and verified using OpenJML's extended static checking.</a:t>
            </a:r>
            <a:endParaRPr lang="en-US" sz="1500" dirty="0"/>
          </a:p>
        </p:txBody>
      </p:sp>
      <p:sp>
        <p:nvSpPr>
          <p:cNvPr id="4" name="Shape 2"/>
          <p:cNvSpPr/>
          <p:nvPr/>
        </p:nvSpPr>
        <p:spPr>
          <a:xfrm>
            <a:off x="548640" y="2651760"/>
            <a:ext cx="128016" cy="128016"/>
          </a:xfrm>
          <a:prstGeom prst="ellipse">
            <a:avLst/>
          </a:prstGeom>
          <a:solidFill>
            <a:srgbClr val="1E2761"/>
          </a:solidFill>
          <a:ln/>
        </p:spPr>
        <p:txBody>
          <a:bodyPr/>
          <a:lstStyle/>
          <a:p>
            <a:endParaRPr lang="en-US"/>
          </a:p>
        </p:txBody>
      </p:sp>
      <p:sp>
        <p:nvSpPr>
          <p:cNvPr id="5" name="Text 3"/>
          <p:cNvSpPr txBox="1"/>
          <p:nvPr/>
        </p:nvSpPr>
        <p:spPr>
          <a:xfrm>
            <a:off x="868680" y="2523744"/>
            <a:ext cx="960120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Paginator (all methods)</a:t>
            </a:r>
            <a:endParaRPr lang="en-US" sz="1400" dirty="0"/>
          </a:p>
        </p:txBody>
      </p:sp>
      <p:sp>
        <p:nvSpPr>
          <p:cNvPr id="6" name="Shape 4"/>
          <p:cNvSpPr/>
          <p:nvPr/>
        </p:nvSpPr>
        <p:spPr>
          <a:xfrm>
            <a:off x="548640" y="3108960"/>
            <a:ext cx="128016" cy="128016"/>
          </a:xfrm>
          <a:prstGeom prst="ellipse">
            <a:avLst/>
          </a:prstGeom>
          <a:solidFill>
            <a:srgbClr val="1E2761"/>
          </a:solidFill>
          <a:ln/>
        </p:spPr>
        <p:txBody>
          <a:bodyPr/>
          <a:lstStyle/>
          <a:p>
            <a:endParaRPr lang="en-US"/>
          </a:p>
        </p:txBody>
      </p:sp>
      <p:sp>
        <p:nvSpPr>
          <p:cNvPr id="7" name="Text 5"/>
          <p:cNvSpPr txBox="1"/>
          <p:nvPr/>
        </p:nvSpPr>
        <p:spPr>
          <a:xfrm>
            <a:off x="868680" y="2980944"/>
            <a:ext cx="960120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RequestValidator.required() / gatherError()</a:t>
            </a:r>
            <a:endParaRPr lang="en-US" sz="1400" dirty="0"/>
          </a:p>
        </p:txBody>
      </p:sp>
      <p:sp>
        <p:nvSpPr>
          <p:cNvPr id="8" name="Shape 6"/>
          <p:cNvSpPr/>
          <p:nvPr/>
        </p:nvSpPr>
        <p:spPr>
          <a:xfrm>
            <a:off x="548640" y="3566160"/>
            <a:ext cx="128016" cy="128016"/>
          </a:xfrm>
          <a:prstGeom prst="ellipse">
            <a:avLst/>
          </a:prstGeom>
          <a:solidFill>
            <a:srgbClr val="1E2761"/>
          </a:solidFill>
          <a:ln/>
        </p:spPr>
        <p:txBody>
          <a:bodyPr/>
          <a:lstStyle/>
          <a:p>
            <a:endParaRPr lang="en-US"/>
          </a:p>
        </p:txBody>
      </p:sp>
      <p:sp>
        <p:nvSpPr>
          <p:cNvPr id="9" name="Text 7"/>
          <p:cNvSpPr txBox="1"/>
          <p:nvPr/>
        </p:nvSpPr>
        <p:spPr>
          <a:xfrm>
            <a:off x="868680" y="3438144"/>
            <a:ext cx="960120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Carrello.addOggetto()</a:t>
            </a:r>
            <a:endParaRPr lang="en-US" sz="1400" dirty="0"/>
          </a:p>
        </p:txBody>
      </p:sp>
      <p:sp>
        <p:nvSpPr>
          <p:cNvPr id="10" name="Shape 8"/>
          <p:cNvSpPr/>
          <p:nvPr/>
        </p:nvSpPr>
        <p:spPr>
          <a:xfrm>
            <a:off x="548640" y="4023360"/>
            <a:ext cx="128016" cy="128016"/>
          </a:xfrm>
          <a:prstGeom prst="ellipse">
            <a:avLst/>
          </a:prstGeom>
          <a:solidFill>
            <a:srgbClr val="1E2761"/>
          </a:solidFill>
          <a:ln/>
        </p:spPr>
        <p:txBody>
          <a:bodyPr/>
          <a:lstStyle/>
          <a:p>
            <a:endParaRPr lang="en-US"/>
          </a:p>
        </p:txBody>
      </p:sp>
      <p:sp>
        <p:nvSpPr>
          <p:cNvPr id="11" name="Text 9"/>
          <p:cNvSpPr txBox="1"/>
          <p:nvPr/>
        </p:nvSpPr>
        <p:spPr>
          <a:xfrm>
            <a:off x="868680" y="3895344"/>
            <a:ext cx="960120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Oggetto.setPrezzo()</a:t>
            </a:r>
            <a:endParaRPr lang="en-US" sz="1400" dirty="0"/>
          </a:p>
        </p:txBody>
      </p:sp>
      <p:sp>
        <p:nvSpPr>
          <p:cNvPr id="12" name="Shape 10"/>
          <p:cNvSpPr/>
          <p:nvPr/>
        </p:nvSpPr>
        <p:spPr>
          <a:xfrm>
            <a:off x="548640" y="4480560"/>
            <a:ext cx="128016" cy="128016"/>
          </a:xfrm>
          <a:prstGeom prst="ellipse">
            <a:avLst/>
          </a:prstGeom>
          <a:solidFill>
            <a:srgbClr val="1E2761"/>
          </a:solidFill>
          <a:ln/>
        </p:spPr>
        <p:txBody>
          <a:bodyPr/>
          <a:lstStyle/>
          <a:p>
            <a:endParaRPr lang="en-US"/>
          </a:p>
        </p:txBody>
      </p:sp>
      <p:sp>
        <p:nvSpPr>
          <p:cNvPr id="13" name="Text 11"/>
          <p:cNvSpPr txBox="1"/>
          <p:nvPr/>
        </p:nvSpPr>
        <p:spPr>
          <a:xfrm>
            <a:off x="868680" y="4352544"/>
            <a:ext cx="9601200" cy="365760"/>
          </a:xfrm>
          <a:prstGeom prst="rect">
            <a:avLst/>
          </a:prstGeom>
          <a:noFill/>
          <a:ln/>
        </p:spPr>
        <p:txBody>
          <a:bodyPr wrap="square" lIns="0" tIns="0" rIns="0" bIns="0" rtlCol="0" anchor="ctr"/>
          <a:lstStyle/>
          <a:p>
            <a:pPr marL="0" indent="0">
              <a:buNone/>
            </a:pPr>
            <a:r>
              <a:rPr lang="en-US" sz="1400" dirty="0">
                <a:solidFill>
                  <a:srgbClr val="1E2761"/>
                </a:solidFill>
                <a:latin typeface="Calibri" pitchFamily="34" charset="0"/>
                <a:ea typeface="Calibri" pitchFamily="34" charset="-122"/>
                <a:cs typeface="Calibri" pitchFamily="34" charset="-120"/>
              </a:rPr>
              <a:t>RegisterValidator.isValidUsername() / isValidPassword()</a:t>
            </a:r>
            <a:endParaRPr lang="en-US" sz="1400" dirty="0"/>
          </a:p>
        </p:txBody>
      </p:sp>
      <p:sp>
        <p:nvSpPr>
          <p:cNvPr id="16" name="Text 14"/>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17" name="Text 15"/>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pic>
        <p:nvPicPr>
          <p:cNvPr id="21" name="Immagine 20">
            <a:extLst>
              <a:ext uri="{FF2B5EF4-FFF2-40B4-BE49-F238E27FC236}">
                <a16:creationId xmlns:a16="http://schemas.microsoft.com/office/drawing/2014/main" id="{BBBD52D2-2794-DEC0-32E2-05B3EE0A46FA}"/>
              </a:ext>
            </a:extLst>
          </p:cNvPr>
          <p:cNvPicPr>
            <a:picLocks noChangeAspect="1"/>
          </p:cNvPicPr>
          <p:nvPr/>
        </p:nvPicPr>
        <p:blipFill>
          <a:blip r:embed="rId3"/>
          <a:stretch>
            <a:fillRect/>
          </a:stretch>
        </p:blipFill>
        <p:spPr>
          <a:xfrm>
            <a:off x="7405028" y="1712840"/>
            <a:ext cx="3938104" cy="4733680"/>
          </a:xfrm>
          <a:prstGeom prst="rect">
            <a:avLst/>
          </a:prstGeom>
        </p:spPr>
      </p:pic>
      <p:pic>
        <p:nvPicPr>
          <p:cNvPr id="23" name="Immagine 22">
            <a:extLst>
              <a:ext uri="{FF2B5EF4-FFF2-40B4-BE49-F238E27FC236}">
                <a16:creationId xmlns:a16="http://schemas.microsoft.com/office/drawing/2014/main" id="{EDB82841-0755-8EF7-8801-988E2FB3C69A}"/>
              </a:ext>
            </a:extLst>
          </p:cNvPr>
          <p:cNvPicPr>
            <a:picLocks noChangeAspect="1"/>
          </p:cNvPicPr>
          <p:nvPr/>
        </p:nvPicPr>
        <p:blipFill>
          <a:blip r:embed="rId4"/>
          <a:stretch>
            <a:fillRect/>
          </a:stretch>
        </p:blipFill>
        <p:spPr>
          <a:xfrm>
            <a:off x="612648" y="5091997"/>
            <a:ext cx="5553850" cy="9716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Docker - Containerization &amp; Orchestration</a:t>
            </a:r>
            <a:endParaRPr lang="en-US" sz="3200" dirty="0"/>
          </a:p>
        </p:txBody>
      </p:sp>
      <p:sp>
        <p:nvSpPr>
          <p:cNvPr id="3" name="Text 1"/>
          <p:cNvSpPr txBox="1"/>
          <p:nvPr/>
        </p:nvSpPr>
        <p:spPr>
          <a:xfrm>
            <a:off x="548640" y="1371600"/>
            <a:ext cx="6035040" cy="219456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E2761"/>
                </a:solidFill>
                <a:latin typeface="Calibri" pitchFamily="34" charset="0"/>
                <a:ea typeface="Calibri" pitchFamily="34" charset="-122"/>
                <a:cs typeface="Calibri" pitchFamily="34" charset="-120"/>
              </a:rPr>
              <a:t>Multi-stage Dockerfile: Maven build stage → Tomcat runtime stage</a:t>
            </a:r>
            <a:endParaRPr lang="en-US" sz="1500" dirty="0"/>
          </a:p>
          <a:p>
            <a:pPr marL="342900" indent="-342900">
              <a:spcAft>
                <a:spcPts val="1200"/>
              </a:spcAft>
              <a:buSzPct val="100000"/>
              <a:buChar char="•"/>
            </a:pPr>
            <a:r>
              <a:rPr lang="en-US" sz="1500" dirty="0">
                <a:solidFill>
                  <a:srgbClr val="1E2761"/>
                </a:solidFill>
                <a:latin typeface="Calibri" pitchFamily="34" charset="0"/>
                <a:ea typeface="Calibri" pitchFamily="34" charset="-122"/>
                <a:cs typeface="Calibri" pitchFamily="34" charset="-120"/>
              </a:rPr>
              <a:t>docker-compose.yml orchestrates the app + a MySQL container</a:t>
            </a:r>
            <a:endParaRPr lang="en-US" sz="1500" dirty="0"/>
          </a:p>
          <a:p>
            <a:pPr marL="342900" indent="-342900">
              <a:spcAft>
                <a:spcPts val="1200"/>
              </a:spcAft>
              <a:buSzPct val="100000"/>
              <a:buChar char="•"/>
            </a:pPr>
            <a:r>
              <a:rPr lang="en-US" sz="1500" dirty="0">
                <a:solidFill>
                  <a:srgbClr val="1E2761"/>
                </a:solidFill>
                <a:latin typeface="Calibri" pitchFamily="34" charset="0"/>
                <a:ea typeface="Calibri" pitchFamily="34" charset="-122"/>
                <a:cs typeface="Calibri" pitchFamily="34" charset="-120"/>
              </a:rPr>
              <a:t>Auto-initialized from schema.sql and seed.sql on first start</a:t>
            </a:r>
            <a:endParaRPr lang="en-US" sz="1500" dirty="0"/>
          </a:p>
          <a:p>
            <a:pPr marL="342900" indent="-342900">
              <a:spcAft>
                <a:spcPts val="1200"/>
              </a:spcAft>
              <a:buSzPct val="100000"/>
              <a:buChar char="•"/>
            </a:pPr>
            <a:r>
              <a:rPr lang="en-US" sz="1500" dirty="0">
                <a:solidFill>
                  <a:srgbClr val="1E2761"/>
                </a:solidFill>
                <a:latin typeface="Calibri" pitchFamily="34" charset="0"/>
                <a:ea typeface="Calibri" pitchFamily="34" charset="-122"/>
                <a:cs typeface="Calibri" pitchFamily="34" charset="-120"/>
              </a:rPr>
              <a:t>Image published to Docker Hub</a:t>
            </a:r>
            <a:endParaRPr lang="en-US" sz="1500" dirty="0"/>
          </a:p>
        </p:txBody>
      </p:sp>
      <p:sp>
        <p:nvSpPr>
          <p:cNvPr id="4" name="Shape 2"/>
          <p:cNvSpPr/>
          <p:nvPr/>
        </p:nvSpPr>
        <p:spPr>
          <a:xfrm>
            <a:off x="548640" y="3749040"/>
            <a:ext cx="5170673" cy="1828800"/>
          </a:xfrm>
          <a:prstGeom prst="roundRect">
            <a:avLst>
              <a:gd name="adj" fmla="val 5000"/>
            </a:avLst>
          </a:prstGeom>
          <a:solidFill>
            <a:srgbClr val="1E2761"/>
          </a:solidFill>
          <a:ln/>
        </p:spPr>
        <p:txBody>
          <a:bodyPr/>
          <a:lstStyle/>
          <a:p>
            <a:endParaRPr lang="en-US"/>
          </a:p>
        </p:txBody>
      </p:sp>
      <p:sp>
        <p:nvSpPr>
          <p:cNvPr id="5" name="Text 3"/>
          <p:cNvSpPr txBox="1"/>
          <p:nvPr/>
        </p:nvSpPr>
        <p:spPr>
          <a:xfrm>
            <a:off x="822960" y="3931920"/>
            <a:ext cx="54864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A real bug found</a:t>
            </a:r>
            <a:endParaRPr lang="en-US" sz="3000" dirty="0"/>
          </a:p>
        </p:txBody>
      </p:sp>
      <p:sp>
        <p:nvSpPr>
          <p:cNvPr id="6" name="Text 4"/>
          <p:cNvSpPr txBox="1"/>
          <p:nvPr/>
        </p:nvSpPr>
        <p:spPr>
          <a:xfrm>
            <a:off x="822960" y="4526280"/>
            <a:ext cx="4706572" cy="914400"/>
          </a:xfrm>
          <a:prstGeom prst="rect">
            <a:avLst/>
          </a:prstGeom>
          <a:noFill/>
          <a:ln/>
        </p:spPr>
        <p:txBody>
          <a:bodyPr wrap="square" lIns="0" tIns="0" rIns="0" bIns="0" rtlCol="0" anchor="ctr"/>
          <a:lstStyle/>
          <a:p>
            <a:r>
              <a:rPr lang="en-US" sz="1250" dirty="0">
                <a:solidFill>
                  <a:srgbClr val="CADCFC"/>
                </a:solidFill>
                <a:latin typeface="Calibri" pitchFamily="34" charset="0"/>
                <a:ea typeface="Calibri" pitchFamily="34" charset="-122"/>
                <a:cs typeface="Calibri" pitchFamily="34" charset="-120"/>
              </a:rPr>
              <a:t>surfaced in the model layer by moving to Linux-based containers: by default, table aliases are case-sensitive on Unix, but no so on Windows or MacOS. This table-name mismatch caused a runtime SQL error on Linux.</a:t>
            </a:r>
            <a:endParaRPr lang="en-US" sz="1250" dirty="0"/>
          </a:p>
        </p:txBody>
      </p:sp>
      <p:sp>
        <p:nvSpPr>
          <p:cNvPr id="9" name="Text 7"/>
          <p:cNvSpPr txBox="1"/>
          <p:nvPr/>
        </p:nvSpPr>
        <p:spPr>
          <a:xfrm>
            <a:off x="7159752" y="5744329"/>
            <a:ext cx="4114800" cy="365760"/>
          </a:xfrm>
          <a:prstGeom prst="rect">
            <a:avLst/>
          </a:prstGeom>
          <a:noFill/>
          <a:ln/>
        </p:spPr>
        <p:txBody>
          <a:bodyPr wrap="square" lIns="0" tIns="0" rIns="0" bIns="0" rtlCol="0" anchor="ctr"/>
          <a:lstStyle/>
          <a:p>
            <a:pPr marL="0" indent="0" algn="ctr">
              <a:buNone/>
            </a:pPr>
            <a:r>
              <a:rPr lang="en-US" sz="1200" i="1" dirty="0">
                <a:solidFill>
                  <a:srgbClr val="5B6B8C"/>
                </a:solidFill>
                <a:latin typeface="Calibri" pitchFamily="34" charset="0"/>
                <a:ea typeface="Calibri" pitchFamily="34" charset="-122"/>
                <a:cs typeface="Calibri" pitchFamily="34" charset="-120"/>
              </a:rPr>
              <a:t>Docker Hub repository page</a:t>
            </a:r>
            <a:endParaRPr lang="en-US" sz="1200" dirty="0"/>
          </a:p>
        </p:txBody>
      </p:sp>
      <p:sp>
        <p:nvSpPr>
          <p:cNvPr id="10" name="Text 8"/>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11" name="Text 9"/>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pic>
        <p:nvPicPr>
          <p:cNvPr id="13" name="Immagine 12">
            <a:extLst>
              <a:ext uri="{FF2B5EF4-FFF2-40B4-BE49-F238E27FC236}">
                <a16:creationId xmlns:a16="http://schemas.microsoft.com/office/drawing/2014/main" id="{9763189F-EC1D-0BA8-410C-B568AB7CC014}"/>
              </a:ext>
            </a:extLst>
          </p:cNvPr>
          <p:cNvPicPr>
            <a:picLocks noChangeAspect="1"/>
          </p:cNvPicPr>
          <p:nvPr/>
        </p:nvPicPr>
        <p:blipFill>
          <a:blip r:embed="rId3"/>
          <a:stretch>
            <a:fillRect/>
          </a:stretch>
        </p:blipFill>
        <p:spPr>
          <a:xfrm>
            <a:off x="6096000" y="1538089"/>
            <a:ext cx="5913563" cy="403975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Testing Strategy</a:t>
            </a:r>
            <a:endParaRPr lang="en-US" sz="3200" dirty="0"/>
          </a:p>
        </p:txBody>
      </p:sp>
      <p:sp>
        <p:nvSpPr>
          <p:cNvPr id="3" name="Shape 1"/>
          <p:cNvSpPr/>
          <p:nvPr/>
        </p:nvSpPr>
        <p:spPr>
          <a:xfrm>
            <a:off x="548640" y="1371600"/>
            <a:ext cx="5212080" cy="4023360"/>
          </a:xfrm>
          <a:prstGeom prst="roundRect">
            <a:avLst>
              <a:gd name="adj" fmla="val 2727"/>
            </a:avLst>
          </a:prstGeom>
          <a:solidFill>
            <a:srgbClr val="F7F9FC"/>
          </a:solidFill>
          <a:ln/>
        </p:spPr>
        <p:txBody>
          <a:bodyPr/>
          <a:lstStyle/>
          <a:p>
            <a:endParaRPr lang="en-US"/>
          </a:p>
        </p:txBody>
      </p:sp>
      <p:sp>
        <p:nvSpPr>
          <p:cNvPr id="4" name="Text 2"/>
          <p:cNvSpPr txBox="1"/>
          <p:nvPr/>
        </p:nvSpPr>
        <p:spPr>
          <a:xfrm>
            <a:off x="822960" y="1600200"/>
            <a:ext cx="4572000" cy="45720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Unit tests</a:t>
            </a:r>
            <a:endParaRPr lang="en-US" sz="2000" dirty="0"/>
          </a:p>
        </p:txBody>
      </p:sp>
      <p:sp>
        <p:nvSpPr>
          <p:cNvPr id="5" name="Text 3"/>
          <p:cNvSpPr txBox="1"/>
          <p:nvPr/>
        </p:nvSpPr>
        <p:spPr>
          <a:xfrm>
            <a:off x="822960" y="2148840"/>
            <a:ext cx="4663440" cy="182880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1E2761"/>
                </a:solidFill>
                <a:latin typeface="Calibri" pitchFamily="34" charset="0"/>
                <a:ea typeface="Calibri" pitchFamily="34" charset="-122"/>
                <a:cs typeface="Calibri" pitchFamily="34" charset="-120"/>
              </a:rPr>
              <a:t>Pure logic &amp; mocked HTTP layer</a:t>
            </a:r>
            <a:endParaRPr lang="en-US" sz="1400" dirty="0"/>
          </a:p>
          <a:p>
            <a:pPr marL="342900" indent="-342900">
              <a:spcAft>
                <a:spcPts val="1000"/>
              </a:spcAft>
              <a:buSzPct val="100000"/>
              <a:buChar char="•"/>
            </a:pPr>
            <a:r>
              <a:rPr lang="en-US" sz="1400" dirty="0">
                <a:solidFill>
                  <a:srgbClr val="1E2761"/>
                </a:solidFill>
                <a:latin typeface="Calibri" pitchFamily="34" charset="0"/>
                <a:ea typeface="Calibri" pitchFamily="34" charset="-122"/>
                <a:cs typeface="Calibri" pitchFamily="34" charset="-120"/>
              </a:rPr>
              <a:t>Paginator, RequestValidator, RegisterValidator, LoginValidator</a:t>
            </a:r>
            <a:endParaRPr lang="en-US" sz="1400" dirty="0"/>
          </a:p>
          <a:p>
            <a:pPr marL="342900" indent="-342900">
              <a:spcAft>
                <a:spcPts val="1000"/>
              </a:spcAft>
              <a:buSzPct val="100000"/>
              <a:buChar char="•"/>
            </a:pPr>
            <a:r>
              <a:rPr lang="en-US" sz="1400" dirty="0">
                <a:solidFill>
                  <a:srgbClr val="1E2761"/>
                </a:solidFill>
                <a:latin typeface="Calibri" pitchFamily="34" charset="0"/>
                <a:ea typeface="Calibri" pitchFamily="34" charset="-122"/>
                <a:cs typeface="Calibri" pitchFamily="34" charset="-120"/>
              </a:rPr>
              <a:t>JUnit 5 + Mockito</a:t>
            </a:r>
            <a:endParaRPr lang="en-US" sz="1400" dirty="0"/>
          </a:p>
        </p:txBody>
      </p:sp>
      <p:sp>
        <p:nvSpPr>
          <p:cNvPr id="6" name="Shape 4"/>
          <p:cNvSpPr/>
          <p:nvPr/>
        </p:nvSpPr>
        <p:spPr>
          <a:xfrm>
            <a:off x="6355080" y="1371600"/>
            <a:ext cx="5212080" cy="4023360"/>
          </a:xfrm>
          <a:prstGeom prst="roundRect">
            <a:avLst>
              <a:gd name="adj" fmla="val 2727"/>
            </a:avLst>
          </a:prstGeom>
          <a:solidFill>
            <a:srgbClr val="1E2761"/>
          </a:solidFill>
          <a:ln/>
        </p:spPr>
        <p:txBody>
          <a:bodyPr/>
          <a:lstStyle/>
          <a:p>
            <a:endParaRPr lang="en-US"/>
          </a:p>
        </p:txBody>
      </p:sp>
      <p:sp>
        <p:nvSpPr>
          <p:cNvPr id="7" name="Text 5"/>
          <p:cNvSpPr txBox="1"/>
          <p:nvPr/>
        </p:nvSpPr>
        <p:spPr>
          <a:xfrm>
            <a:off x="6629400" y="1600200"/>
            <a:ext cx="4572000" cy="45720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Integration tests</a:t>
            </a:r>
            <a:endParaRPr lang="en-US" sz="2000" dirty="0"/>
          </a:p>
        </p:txBody>
      </p:sp>
      <p:sp>
        <p:nvSpPr>
          <p:cNvPr id="8" name="Text 6"/>
          <p:cNvSpPr txBox="1"/>
          <p:nvPr/>
        </p:nvSpPr>
        <p:spPr>
          <a:xfrm>
            <a:off x="6629400" y="2148840"/>
            <a:ext cx="4663440" cy="182880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CADCFC"/>
                </a:solidFill>
                <a:latin typeface="Calibri" pitchFamily="34" charset="0"/>
                <a:ea typeface="Calibri" pitchFamily="34" charset="-122"/>
                <a:cs typeface="Calibri" pitchFamily="34" charset="-120"/>
              </a:rPr>
              <a:t>Against a real MySQL database</a:t>
            </a:r>
            <a:endParaRPr lang="en-US" sz="1400" dirty="0"/>
          </a:p>
          <a:p>
            <a:pPr marL="342900" indent="-342900">
              <a:spcAft>
                <a:spcPts val="1000"/>
              </a:spcAft>
              <a:buSzPct val="100000"/>
              <a:buChar char="•"/>
            </a:pPr>
            <a:r>
              <a:rPr lang="en-US" sz="1400" dirty="0">
                <a:solidFill>
                  <a:srgbClr val="CADCFC"/>
                </a:solidFill>
                <a:latin typeface="Calibri" pitchFamily="34" charset="0"/>
                <a:ea typeface="Calibri" pitchFamily="34" charset="-122"/>
                <a:cs typeface="Calibri" pitchFamily="34" charset="-120"/>
              </a:rPr>
              <a:t>UtenteManager, CorsoManager, CarrelloManager, OrdineManager, and more</a:t>
            </a:r>
            <a:endParaRPr lang="en-US" sz="1400" dirty="0"/>
          </a:p>
          <a:p>
            <a:pPr marL="342900" indent="-342900">
              <a:spcAft>
                <a:spcPts val="1000"/>
              </a:spcAft>
              <a:buSzPct val="100000"/>
              <a:buChar char="•"/>
            </a:pPr>
            <a:r>
              <a:rPr lang="en-US" sz="1400" dirty="0">
                <a:solidFill>
                  <a:srgbClr val="CADCFC"/>
                </a:solidFill>
                <a:latin typeface="Calibri" pitchFamily="34" charset="0"/>
                <a:ea typeface="Calibri" pitchFamily="34" charset="-122"/>
                <a:cs typeface="Calibri" pitchFamily="34" charset="-120"/>
              </a:rPr>
              <a:t>Because this layer's entire job is coordinating with the DB correctly</a:t>
            </a:r>
            <a:endParaRPr lang="en-US" sz="1400" dirty="0"/>
          </a:p>
        </p:txBody>
      </p:sp>
      <p:sp>
        <p:nvSpPr>
          <p:cNvPr id="9" name="Text 7"/>
          <p:cNvSpPr txBox="1"/>
          <p:nvPr/>
        </p:nvSpPr>
        <p:spPr>
          <a:xfrm>
            <a:off x="548640" y="5669280"/>
            <a:ext cx="11064240" cy="457200"/>
          </a:xfrm>
          <a:prstGeom prst="rect">
            <a:avLst/>
          </a:prstGeom>
          <a:noFill/>
          <a:ln/>
        </p:spPr>
        <p:txBody>
          <a:bodyPr wrap="square" lIns="0" tIns="0" rIns="0" bIns="0" rtlCol="0" anchor="ctr"/>
          <a:lstStyle/>
          <a:p>
            <a:pPr marL="0" indent="0" algn="ctr">
              <a:buNone/>
            </a:pPr>
            <a:r>
              <a:rPr lang="en-US" sz="1500" b="1" dirty="0">
                <a:solidFill>
                  <a:srgbClr val="1E2761"/>
                </a:solidFill>
                <a:latin typeface="Calibri" pitchFamily="34" charset="0"/>
                <a:ea typeface="Calibri" pitchFamily="34" charset="-122"/>
                <a:cs typeface="Calibri" pitchFamily="34" charset="-120"/>
              </a:rPr>
              <a:t>81 tests / 13 test classes / manually designed / automatically executed</a:t>
            </a:r>
            <a:endParaRPr lang="en-US" sz="1500" dirty="0"/>
          </a:p>
        </p:txBody>
      </p:sp>
      <p:sp>
        <p:nvSpPr>
          <p:cNvPr id="10" name="Text 8"/>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11" name="Text 9"/>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Coverage &amp; Mutation Testing</a:t>
            </a:r>
            <a:endParaRPr lang="en-US" sz="3200" dirty="0"/>
          </a:p>
        </p:txBody>
      </p:sp>
      <p:sp>
        <p:nvSpPr>
          <p:cNvPr id="3" name="Shape 1"/>
          <p:cNvSpPr/>
          <p:nvPr/>
        </p:nvSpPr>
        <p:spPr>
          <a:xfrm>
            <a:off x="548640" y="1554480"/>
            <a:ext cx="2606040" cy="2286000"/>
          </a:xfrm>
          <a:prstGeom prst="roundRect">
            <a:avLst>
              <a:gd name="adj" fmla="val 4000"/>
            </a:avLst>
          </a:prstGeom>
          <a:solidFill>
            <a:srgbClr val="1E2761"/>
          </a:solidFill>
          <a:ln/>
        </p:spPr>
        <p:txBody>
          <a:bodyPr/>
          <a:lstStyle/>
          <a:p>
            <a:endParaRPr lang="en-US"/>
          </a:p>
        </p:txBody>
      </p:sp>
      <p:sp>
        <p:nvSpPr>
          <p:cNvPr id="4" name="Text 2"/>
          <p:cNvSpPr txBox="1"/>
          <p:nvPr/>
        </p:nvSpPr>
        <p:spPr>
          <a:xfrm>
            <a:off x="548640" y="1828800"/>
            <a:ext cx="2606040" cy="914400"/>
          </a:xfrm>
          <a:prstGeom prst="rect">
            <a:avLst/>
          </a:prstGeom>
          <a:noFill/>
          <a:ln/>
        </p:spPr>
        <p:txBody>
          <a:bodyPr wrap="square" lIns="0" tIns="0" rIns="0" b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32%</a:t>
            </a:r>
            <a:endParaRPr lang="en-US" sz="4400" dirty="0"/>
          </a:p>
        </p:txBody>
      </p:sp>
      <p:sp>
        <p:nvSpPr>
          <p:cNvPr id="5" name="Text 3"/>
          <p:cNvSpPr txBox="1"/>
          <p:nvPr/>
        </p:nvSpPr>
        <p:spPr>
          <a:xfrm>
            <a:off x="685800" y="2834640"/>
            <a:ext cx="2331720" cy="822960"/>
          </a:xfrm>
          <a:prstGeom prst="rect">
            <a:avLst/>
          </a:prstGeom>
          <a:noFill/>
          <a:ln/>
        </p:spPr>
        <p:txBody>
          <a:bodyPr wrap="square" lIns="0" tIns="0" rIns="0" bIns="0" rtlCol="0" anchor="ctr"/>
          <a:lstStyle/>
          <a:p>
            <a:pPr marL="0" indent="0" algn="ctr">
              <a:buNone/>
            </a:pPr>
            <a:r>
              <a:rPr lang="en-US" sz="1250" dirty="0">
                <a:solidFill>
                  <a:srgbClr val="CADCFC"/>
                </a:solidFill>
                <a:latin typeface="Calibri" pitchFamily="34" charset="0"/>
                <a:ea typeface="Calibri" pitchFamily="34" charset="-122"/>
                <a:cs typeface="Calibri" pitchFamily="34" charset="-120"/>
              </a:rPr>
              <a:t>Instruction coverage</a:t>
            </a:r>
            <a:endParaRPr lang="en-US" sz="1250" dirty="0"/>
          </a:p>
          <a:p>
            <a:pPr marL="0" indent="0" algn="ctr">
              <a:buNone/>
            </a:pPr>
            <a:r>
              <a:rPr lang="en-US" sz="1250" dirty="0">
                <a:solidFill>
                  <a:srgbClr val="CADCFC"/>
                </a:solidFill>
                <a:latin typeface="Calibri" pitchFamily="34" charset="0"/>
                <a:ea typeface="Calibri" pitchFamily="34" charset="-122"/>
                <a:cs typeface="Calibri" pitchFamily="34" charset="-120"/>
              </a:rPr>
              <a:t>(JaCoCo)</a:t>
            </a:r>
            <a:endParaRPr lang="en-US" sz="1250" dirty="0"/>
          </a:p>
        </p:txBody>
      </p:sp>
      <p:sp>
        <p:nvSpPr>
          <p:cNvPr id="6" name="Shape 4"/>
          <p:cNvSpPr/>
          <p:nvPr/>
        </p:nvSpPr>
        <p:spPr>
          <a:xfrm>
            <a:off x="3337560" y="1554480"/>
            <a:ext cx="2606040" cy="2286000"/>
          </a:xfrm>
          <a:prstGeom prst="roundRect">
            <a:avLst>
              <a:gd name="adj" fmla="val 4000"/>
            </a:avLst>
          </a:prstGeom>
          <a:solidFill>
            <a:srgbClr val="F7F9FC"/>
          </a:solidFill>
          <a:ln/>
        </p:spPr>
        <p:txBody>
          <a:bodyPr/>
          <a:lstStyle/>
          <a:p>
            <a:endParaRPr lang="en-US"/>
          </a:p>
        </p:txBody>
      </p:sp>
      <p:sp>
        <p:nvSpPr>
          <p:cNvPr id="7" name="Text 5"/>
          <p:cNvSpPr txBox="1"/>
          <p:nvPr/>
        </p:nvSpPr>
        <p:spPr>
          <a:xfrm>
            <a:off x="3337560" y="1828800"/>
            <a:ext cx="2606040" cy="91440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20%</a:t>
            </a:r>
            <a:endParaRPr lang="en-US" sz="4400" dirty="0"/>
          </a:p>
        </p:txBody>
      </p:sp>
      <p:sp>
        <p:nvSpPr>
          <p:cNvPr id="8" name="Text 6"/>
          <p:cNvSpPr txBox="1"/>
          <p:nvPr/>
        </p:nvSpPr>
        <p:spPr>
          <a:xfrm>
            <a:off x="3474720" y="2834640"/>
            <a:ext cx="2331720" cy="822960"/>
          </a:xfrm>
          <a:prstGeom prst="rect">
            <a:avLst/>
          </a:prstGeom>
          <a:noFill/>
          <a:ln/>
        </p:spPr>
        <p:txBody>
          <a:bodyPr wrap="square" lIns="0" tIns="0" rIns="0" bIns="0" rtlCol="0" anchor="ctr"/>
          <a:lstStyle/>
          <a:p>
            <a:pPr marL="0" indent="0" algn="ctr">
              <a:buNone/>
            </a:pPr>
            <a:r>
              <a:rPr lang="en-US" sz="1250" dirty="0">
                <a:solidFill>
                  <a:srgbClr val="5B6B8C"/>
                </a:solidFill>
                <a:latin typeface="Calibri" pitchFamily="34" charset="0"/>
                <a:ea typeface="Calibri" pitchFamily="34" charset="-122"/>
                <a:cs typeface="Calibri" pitchFamily="34" charset="-120"/>
              </a:rPr>
              <a:t>Branch coverage</a:t>
            </a:r>
            <a:endParaRPr lang="en-US" sz="1250" dirty="0"/>
          </a:p>
          <a:p>
            <a:pPr marL="0" indent="0" algn="ctr">
              <a:buNone/>
            </a:pPr>
            <a:r>
              <a:rPr lang="en-US" sz="1250" dirty="0">
                <a:solidFill>
                  <a:srgbClr val="5B6B8C"/>
                </a:solidFill>
                <a:latin typeface="Calibri" pitchFamily="34" charset="0"/>
                <a:ea typeface="Calibri" pitchFamily="34" charset="-122"/>
                <a:cs typeface="Calibri" pitchFamily="34" charset="-120"/>
              </a:rPr>
              <a:t>(JaCoCo)</a:t>
            </a:r>
            <a:endParaRPr lang="en-US" sz="1250" dirty="0"/>
          </a:p>
        </p:txBody>
      </p:sp>
      <p:sp>
        <p:nvSpPr>
          <p:cNvPr id="9" name="Shape 7"/>
          <p:cNvSpPr/>
          <p:nvPr/>
        </p:nvSpPr>
        <p:spPr>
          <a:xfrm>
            <a:off x="6126480" y="1554480"/>
            <a:ext cx="2606040" cy="2286000"/>
          </a:xfrm>
          <a:prstGeom prst="roundRect">
            <a:avLst>
              <a:gd name="adj" fmla="val 4000"/>
            </a:avLst>
          </a:prstGeom>
          <a:solidFill>
            <a:srgbClr val="1E2761"/>
          </a:solidFill>
          <a:ln/>
        </p:spPr>
        <p:txBody>
          <a:bodyPr/>
          <a:lstStyle/>
          <a:p>
            <a:endParaRPr lang="en-US"/>
          </a:p>
        </p:txBody>
      </p:sp>
      <p:sp>
        <p:nvSpPr>
          <p:cNvPr id="10" name="Text 8"/>
          <p:cNvSpPr txBox="1"/>
          <p:nvPr/>
        </p:nvSpPr>
        <p:spPr>
          <a:xfrm>
            <a:off x="6126480" y="1828800"/>
            <a:ext cx="2606040" cy="914400"/>
          </a:xfrm>
          <a:prstGeom prst="rect">
            <a:avLst/>
          </a:prstGeom>
          <a:noFill/>
          <a:ln/>
        </p:spPr>
        <p:txBody>
          <a:bodyPr wrap="square" lIns="0" tIns="0" rIns="0" b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45%</a:t>
            </a:r>
            <a:endParaRPr lang="en-US" sz="4400" dirty="0"/>
          </a:p>
        </p:txBody>
      </p:sp>
      <p:sp>
        <p:nvSpPr>
          <p:cNvPr id="11" name="Text 9"/>
          <p:cNvSpPr txBox="1"/>
          <p:nvPr/>
        </p:nvSpPr>
        <p:spPr>
          <a:xfrm>
            <a:off x="6263640" y="2834640"/>
            <a:ext cx="2331720" cy="822960"/>
          </a:xfrm>
          <a:prstGeom prst="rect">
            <a:avLst/>
          </a:prstGeom>
          <a:noFill/>
          <a:ln/>
        </p:spPr>
        <p:txBody>
          <a:bodyPr wrap="square" lIns="0" tIns="0" rIns="0" bIns="0" rtlCol="0" anchor="ctr"/>
          <a:lstStyle/>
          <a:p>
            <a:pPr marL="0" indent="0" algn="ctr">
              <a:buNone/>
            </a:pPr>
            <a:r>
              <a:rPr lang="en-US" sz="1250" dirty="0">
                <a:solidFill>
                  <a:srgbClr val="CADCFC"/>
                </a:solidFill>
                <a:latin typeface="Calibri" pitchFamily="34" charset="0"/>
                <a:ea typeface="Calibri" pitchFamily="34" charset="-122"/>
                <a:cs typeface="Calibri" pitchFamily="34" charset="-120"/>
              </a:rPr>
              <a:t>Raw mutation score</a:t>
            </a:r>
            <a:endParaRPr lang="en-US" sz="1250" dirty="0"/>
          </a:p>
          <a:p>
            <a:pPr marL="0" indent="0" algn="ctr">
              <a:buNone/>
            </a:pPr>
            <a:r>
              <a:rPr lang="en-US" sz="1250" dirty="0">
                <a:solidFill>
                  <a:srgbClr val="CADCFC"/>
                </a:solidFill>
                <a:latin typeface="Calibri" pitchFamily="34" charset="0"/>
                <a:ea typeface="Calibri" pitchFamily="34" charset="-122"/>
                <a:cs typeface="Calibri" pitchFamily="34" charset="-120"/>
              </a:rPr>
              <a:t>(PiTest)</a:t>
            </a:r>
            <a:endParaRPr lang="en-US" sz="1250" dirty="0"/>
          </a:p>
        </p:txBody>
      </p:sp>
      <p:sp>
        <p:nvSpPr>
          <p:cNvPr id="12" name="Shape 10"/>
          <p:cNvSpPr/>
          <p:nvPr/>
        </p:nvSpPr>
        <p:spPr>
          <a:xfrm>
            <a:off x="8915400" y="1554480"/>
            <a:ext cx="2606040" cy="2286000"/>
          </a:xfrm>
          <a:prstGeom prst="roundRect">
            <a:avLst>
              <a:gd name="adj" fmla="val 4000"/>
            </a:avLst>
          </a:prstGeom>
          <a:solidFill>
            <a:srgbClr val="F7F9FC"/>
          </a:solidFill>
          <a:ln/>
        </p:spPr>
        <p:txBody>
          <a:bodyPr/>
          <a:lstStyle/>
          <a:p>
            <a:endParaRPr lang="en-US"/>
          </a:p>
        </p:txBody>
      </p:sp>
      <p:sp>
        <p:nvSpPr>
          <p:cNvPr id="13" name="Text 11"/>
          <p:cNvSpPr txBox="1"/>
          <p:nvPr/>
        </p:nvSpPr>
        <p:spPr>
          <a:xfrm>
            <a:off x="8915400" y="1828800"/>
            <a:ext cx="2606040" cy="91440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70%</a:t>
            </a:r>
            <a:endParaRPr lang="en-US" sz="4400" dirty="0"/>
          </a:p>
        </p:txBody>
      </p:sp>
      <p:sp>
        <p:nvSpPr>
          <p:cNvPr id="14" name="Text 12"/>
          <p:cNvSpPr txBox="1"/>
          <p:nvPr/>
        </p:nvSpPr>
        <p:spPr>
          <a:xfrm>
            <a:off x="9052560" y="2834640"/>
            <a:ext cx="2331720" cy="822960"/>
          </a:xfrm>
          <a:prstGeom prst="rect">
            <a:avLst/>
          </a:prstGeom>
          <a:noFill/>
          <a:ln/>
        </p:spPr>
        <p:txBody>
          <a:bodyPr wrap="square" lIns="0" tIns="0" rIns="0" bIns="0" rtlCol="0" anchor="ctr"/>
          <a:lstStyle/>
          <a:p>
            <a:pPr marL="0" indent="0" algn="ctr">
              <a:buNone/>
            </a:pPr>
            <a:r>
              <a:rPr lang="en-US" sz="1250" dirty="0">
                <a:solidFill>
                  <a:srgbClr val="5B6B8C"/>
                </a:solidFill>
                <a:latin typeface="Calibri" pitchFamily="34" charset="0"/>
                <a:ea typeface="Calibri" pitchFamily="34" charset="-122"/>
                <a:cs typeface="Calibri" pitchFamily="34" charset="-120"/>
              </a:rPr>
              <a:t>Test strength</a:t>
            </a:r>
            <a:endParaRPr lang="en-US" sz="1250" dirty="0"/>
          </a:p>
          <a:p>
            <a:pPr marL="0" indent="0" algn="ctr">
              <a:buNone/>
            </a:pPr>
            <a:r>
              <a:rPr lang="en-US" sz="1250" dirty="0">
                <a:solidFill>
                  <a:srgbClr val="5B6B8C"/>
                </a:solidFill>
                <a:latin typeface="Calibri" pitchFamily="34" charset="0"/>
                <a:ea typeface="Calibri" pitchFamily="34" charset="-122"/>
                <a:cs typeface="Calibri" pitchFamily="34" charset="-120"/>
              </a:rPr>
              <a:t>(PiTest)</a:t>
            </a:r>
            <a:endParaRPr lang="en-US" sz="1250" dirty="0"/>
          </a:p>
        </p:txBody>
      </p:sp>
      <p:sp>
        <p:nvSpPr>
          <p:cNvPr id="15" name="Text 13"/>
          <p:cNvSpPr txBox="1"/>
          <p:nvPr/>
        </p:nvSpPr>
        <p:spPr>
          <a:xfrm>
            <a:off x="548640" y="4206240"/>
            <a:ext cx="11064240" cy="1463040"/>
          </a:xfrm>
          <a:prstGeom prst="rect">
            <a:avLst/>
          </a:prstGeom>
          <a:noFill/>
          <a:ln/>
        </p:spPr>
        <p:txBody>
          <a:bodyPr wrap="square" lIns="0" tIns="0" rIns="0" bIns="0" rtlCol="0" anchor="t"/>
          <a:lstStyle/>
          <a:p>
            <a:pPr marL="0" indent="0">
              <a:buNone/>
            </a:pPr>
            <a:r>
              <a:rPr lang="en-US" sz="1350" dirty="0">
                <a:solidFill>
                  <a:srgbClr val="1E2761"/>
                </a:solidFill>
                <a:latin typeface="Calibri" pitchFamily="34" charset="0"/>
                <a:ea typeface="Calibri" pitchFamily="34" charset="-122"/>
                <a:cs typeface="Calibri" pitchFamily="34" charset="-120"/>
              </a:rPr>
              <a:t>Coverage is concentrated in the Model layer (50–88%), matching where testing effort was mostly focused. The Controller layer was tested less (14–49%), reflecting the fact its mostly delegating business logic to already tested Model methods and forwarding the processed data to JSPs for rendering. The gap between raw mutation score and test strength is  explained because 282 of 512 mutants sat on code the test suite never executed at all.</a:t>
            </a:r>
            <a:endParaRPr lang="en-US" sz="1350" dirty="0"/>
          </a:p>
        </p:txBody>
      </p:sp>
      <p:sp>
        <p:nvSpPr>
          <p:cNvPr id="16" name="Text 14"/>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17" name="Text 15"/>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Performance Testing (JMH)</a:t>
            </a:r>
            <a:endParaRPr lang="en-US" sz="3200" dirty="0"/>
          </a:p>
        </p:txBody>
      </p:sp>
      <p:sp>
        <p:nvSpPr>
          <p:cNvPr id="3" name="Text 1"/>
          <p:cNvSpPr txBox="1"/>
          <p:nvPr/>
        </p:nvSpPr>
        <p:spPr>
          <a:xfrm>
            <a:off x="548640" y="1371600"/>
            <a:ext cx="6035040" cy="1463040"/>
          </a:xfrm>
          <a:prstGeom prst="rect">
            <a:avLst/>
          </a:prstGeom>
          <a:noFill/>
          <a:ln/>
        </p:spPr>
        <p:txBody>
          <a:bodyPr wrap="square" lIns="0" tIns="0" rIns="0" bIns="0" rtlCol="0" anchor="t"/>
          <a:lstStyle/>
          <a:p>
            <a:pPr marL="0" indent="0">
              <a:buNone/>
            </a:pPr>
            <a:r>
              <a:rPr lang="en-US" sz="1500" dirty="0">
                <a:solidFill>
                  <a:srgbClr val="1E2761"/>
                </a:solidFill>
                <a:latin typeface="Calibri" pitchFamily="34" charset="0"/>
                <a:ea typeface="Calibri" pitchFamily="34" charset="-122"/>
                <a:cs typeface="Calibri" pitchFamily="34" charset="-120"/>
              </a:rPr>
              <a:t>CorsoQuery.search() is the most computationally complex pure-logic method in the codebase (string-building and branching over search conditions), was benchmarked in average-time mode.</a:t>
            </a:r>
            <a:endParaRPr lang="en-US" sz="1500" dirty="0"/>
          </a:p>
        </p:txBody>
      </p:sp>
      <p:sp>
        <p:nvSpPr>
          <p:cNvPr id="4" name="Shape 2"/>
          <p:cNvSpPr/>
          <p:nvPr/>
        </p:nvSpPr>
        <p:spPr>
          <a:xfrm>
            <a:off x="548640" y="2426610"/>
            <a:ext cx="3307368" cy="2443001"/>
          </a:xfrm>
          <a:prstGeom prst="roundRect">
            <a:avLst>
              <a:gd name="adj" fmla="val 4615"/>
            </a:avLst>
          </a:prstGeom>
          <a:solidFill>
            <a:srgbClr val="1E2761"/>
          </a:solidFill>
          <a:ln/>
        </p:spPr>
        <p:txBody>
          <a:bodyPr/>
          <a:lstStyle/>
          <a:p>
            <a:endParaRPr lang="en-US" sz="1000"/>
          </a:p>
        </p:txBody>
      </p:sp>
      <p:sp>
        <p:nvSpPr>
          <p:cNvPr id="5" name="Text 3"/>
          <p:cNvSpPr txBox="1"/>
          <p:nvPr/>
        </p:nvSpPr>
        <p:spPr>
          <a:xfrm>
            <a:off x="822960" y="2308429"/>
            <a:ext cx="5486400" cy="914400"/>
          </a:xfrm>
          <a:prstGeom prst="rect">
            <a:avLst/>
          </a:prstGeom>
          <a:noFill/>
          <a:ln/>
        </p:spPr>
        <p:txBody>
          <a:bodyPr wrap="square" lIns="0" tIns="0" rIns="0" bIns="0" rtlCol="0" anchor="ctr"/>
          <a:lstStyle/>
          <a:p>
            <a:pPr marL="0" indent="0">
              <a:buNone/>
            </a:pPr>
            <a:r>
              <a:rPr lang="en-US" b="1" dirty="0">
                <a:solidFill>
                  <a:srgbClr val="FFFFFF"/>
                </a:solidFill>
                <a:latin typeface="Cambria" pitchFamily="34" charset="0"/>
                <a:ea typeface="Cambria" pitchFamily="34" charset="-122"/>
                <a:cs typeface="Cambria" pitchFamily="34" charset="-120"/>
              </a:rPr>
              <a:t>0.115 µs/op</a:t>
            </a:r>
            <a:endParaRPr lang="en-US" dirty="0"/>
          </a:p>
        </p:txBody>
      </p:sp>
      <p:sp>
        <p:nvSpPr>
          <p:cNvPr id="6" name="Text 4"/>
          <p:cNvSpPr txBox="1"/>
          <p:nvPr/>
        </p:nvSpPr>
        <p:spPr>
          <a:xfrm>
            <a:off x="822960" y="3053751"/>
            <a:ext cx="54864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 0.004, across 25 measured iterations</a:t>
            </a:r>
            <a:endParaRPr lang="en-US" sz="1200" dirty="0"/>
          </a:p>
        </p:txBody>
      </p:sp>
      <p:sp>
        <p:nvSpPr>
          <p:cNvPr id="7" name="Text 5"/>
          <p:cNvSpPr txBox="1"/>
          <p:nvPr/>
        </p:nvSpPr>
        <p:spPr>
          <a:xfrm>
            <a:off x="822960" y="3273724"/>
            <a:ext cx="2593100" cy="731520"/>
          </a:xfrm>
          <a:prstGeom prst="rect">
            <a:avLst/>
          </a:prstGeom>
          <a:noFill/>
          <a:ln/>
        </p:spPr>
        <p:txBody>
          <a:bodyPr wrap="square" lIns="0" tIns="0" rIns="0" bIns="0" rtlCol="0" anchor="ctr"/>
          <a:lstStyle/>
          <a:p>
            <a:pPr marL="0" indent="0">
              <a:buNone/>
            </a:pPr>
            <a:br>
              <a:rPr lang="en-US" sz="1200" dirty="0">
                <a:solidFill>
                  <a:srgbClr val="CADCFC"/>
                </a:solidFill>
                <a:latin typeface="Calibri" pitchFamily="34" charset="0"/>
                <a:ea typeface="Calibri" pitchFamily="34" charset="-122"/>
                <a:cs typeface="Calibri" pitchFamily="34" charset="-120"/>
              </a:rPr>
            </a:br>
            <a:r>
              <a:rPr lang="en-US" sz="1200" dirty="0">
                <a:solidFill>
                  <a:srgbClr val="CADCFC"/>
                </a:solidFill>
                <a:latin typeface="Calibri" pitchFamily="34" charset="0"/>
                <a:ea typeface="Calibri" pitchFamily="34" charset="-122"/>
                <a:cs typeface="Calibri" pitchFamily="34" charset="-120"/>
              </a:rPr>
              <a:t>Confirms computation for this method is effectively free and latency in this application comes mostly from database interactions rather than application logic</a:t>
            </a:r>
            <a:endParaRPr lang="en-US" sz="1200" dirty="0"/>
          </a:p>
        </p:txBody>
      </p:sp>
      <p:sp>
        <p:nvSpPr>
          <p:cNvPr id="10" name="Text 8"/>
          <p:cNvSpPr txBox="1"/>
          <p:nvPr/>
        </p:nvSpPr>
        <p:spPr>
          <a:xfrm>
            <a:off x="5752956" y="6223097"/>
            <a:ext cx="4114800" cy="365760"/>
          </a:xfrm>
          <a:prstGeom prst="rect">
            <a:avLst/>
          </a:prstGeom>
          <a:noFill/>
          <a:ln/>
        </p:spPr>
        <p:txBody>
          <a:bodyPr wrap="square" lIns="0" tIns="0" rIns="0" bIns="0" rtlCol="0" anchor="ctr"/>
          <a:lstStyle/>
          <a:p>
            <a:pPr marL="0" indent="0" algn="ctr">
              <a:buNone/>
            </a:pPr>
            <a:r>
              <a:rPr lang="en-US" sz="1200" i="1" dirty="0" err="1">
                <a:solidFill>
                  <a:srgbClr val="5B6B8C"/>
                </a:solidFill>
                <a:latin typeface="Calibri" pitchFamily="34" charset="0"/>
                <a:ea typeface="Calibri" pitchFamily="34" charset="-122"/>
                <a:cs typeface="Calibri" pitchFamily="34" charset="-120"/>
              </a:rPr>
              <a:t>CorsoSearchBenchmark</a:t>
            </a:r>
            <a:r>
              <a:rPr lang="en-US" sz="1200" i="1" dirty="0">
                <a:solidFill>
                  <a:srgbClr val="5B6B8C"/>
                </a:solidFill>
                <a:latin typeface="Calibri" pitchFamily="34" charset="0"/>
                <a:ea typeface="Calibri" pitchFamily="34" charset="-122"/>
                <a:cs typeface="Calibri" pitchFamily="34" charset="-120"/>
              </a:rPr>
              <a:t> Class</a:t>
            </a:r>
            <a:endParaRPr lang="en-US" sz="1200" dirty="0"/>
          </a:p>
        </p:txBody>
      </p:sp>
      <p:sp>
        <p:nvSpPr>
          <p:cNvPr id="11" name="Text 9"/>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12" name="Text 10"/>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pic>
        <p:nvPicPr>
          <p:cNvPr id="9" name="Immagine 8">
            <a:extLst>
              <a:ext uri="{FF2B5EF4-FFF2-40B4-BE49-F238E27FC236}">
                <a16:creationId xmlns:a16="http://schemas.microsoft.com/office/drawing/2014/main" id="{995BF51D-8C32-50D4-354F-1181BC0B8079}"/>
              </a:ext>
            </a:extLst>
          </p:cNvPr>
          <p:cNvPicPr>
            <a:picLocks noChangeAspect="1"/>
          </p:cNvPicPr>
          <p:nvPr/>
        </p:nvPicPr>
        <p:blipFill>
          <a:blip r:embed="rId3"/>
          <a:stretch>
            <a:fillRect/>
          </a:stretch>
        </p:blipFill>
        <p:spPr>
          <a:xfrm>
            <a:off x="4028970" y="1888709"/>
            <a:ext cx="7562772" cy="421706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Security Analysis</a:t>
            </a:r>
            <a:endParaRPr lang="en-US" sz="3200" dirty="0"/>
          </a:p>
        </p:txBody>
      </p:sp>
      <p:sp>
        <p:nvSpPr>
          <p:cNvPr id="3" name="Shape 1"/>
          <p:cNvSpPr/>
          <p:nvPr/>
        </p:nvSpPr>
        <p:spPr>
          <a:xfrm>
            <a:off x="548640" y="1463040"/>
            <a:ext cx="11064240" cy="1234440"/>
          </a:xfrm>
          <a:prstGeom prst="roundRect">
            <a:avLst>
              <a:gd name="adj" fmla="val 7407"/>
            </a:avLst>
          </a:prstGeom>
          <a:solidFill>
            <a:srgbClr val="F7F9FC"/>
          </a:solidFill>
          <a:ln/>
        </p:spPr>
        <p:txBody>
          <a:bodyPr/>
          <a:lstStyle/>
          <a:p>
            <a:endParaRPr lang="en-US"/>
          </a:p>
        </p:txBody>
      </p:sp>
      <p:sp>
        <p:nvSpPr>
          <p:cNvPr id="4" name="Text 2"/>
          <p:cNvSpPr txBox="1"/>
          <p:nvPr/>
        </p:nvSpPr>
        <p:spPr>
          <a:xfrm>
            <a:off x="822960" y="1572768"/>
            <a:ext cx="2377440" cy="100584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GitGuardian</a:t>
            </a:r>
            <a:endParaRPr lang="en-US" sz="1800" dirty="0"/>
          </a:p>
        </p:txBody>
      </p:sp>
      <p:sp>
        <p:nvSpPr>
          <p:cNvPr id="5" name="Text 3"/>
          <p:cNvSpPr txBox="1"/>
          <p:nvPr/>
        </p:nvSpPr>
        <p:spPr>
          <a:xfrm>
            <a:off x="3291840" y="1572768"/>
            <a:ext cx="8046720" cy="1005840"/>
          </a:xfrm>
          <a:prstGeom prst="rect">
            <a:avLst/>
          </a:prstGeom>
          <a:noFill/>
          <a:ln/>
        </p:spPr>
        <p:txBody>
          <a:bodyPr wrap="square" lIns="0" tIns="0" rIns="0" bIns="0" rtlCol="0" anchor="ctr"/>
          <a:lstStyle/>
          <a:p>
            <a:pPr marL="0" indent="0">
              <a:buNone/>
            </a:pPr>
            <a:r>
              <a:rPr lang="en-US" sz="1300" dirty="0">
                <a:solidFill>
                  <a:srgbClr val="1E2761"/>
                </a:solidFill>
                <a:latin typeface="Calibri" pitchFamily="34" charset="0"/>
                <a:ea typeface="Calibri" pitchFamily="34" charset="-122"/>
                <a:cs typeface="Calibri" pitchFamily="34" charset="-120"/>
              </a:rPr>
              <a:t>Found a hardcoded DB password across 3 files. Fixed: now supplied only via environment variable / CI secret.</a:t>
            </a:r>
            <a:endParaRPr lang="en-US" sz="1300" dirty="0"/>
          </a:p>
        </p:txBody>
      </p:sp>
      <p:sp>
        <p:nvSpPr>
          <p:cNvPr id="6" name="Shape 4"/>
          <p:cNvSpPr/>
          <p:nvPr/>
        </p:nvSpPr>
        <p:spPr>
          <a:xfrm>
            <a:off x="548640" y="2926080"/>
            <a:ext cx="11064240" cy="1234440"/>
          </a:xfrm>
          <a:prstGeom prst="roundRect">
            <a:avLst>
              <a:gd name="adj" fmla="val 7407"/>
            </a:avLst>
          </a:prstGeom>
          <a:solidFill>
            <a:srgbClr val="F7F9FC"/>
          </a:solidFill>
          <a:ln/>
        </p:spPr>
        <p:txBody>
          <a:bodyPr/>
          <a:lstStyle/>
          <a:p>
            <a:endParaRPr lang="en-US"/>
          </a:p>
        </p:txBody>
      </p:sp>
      <p:sp>
        <p:nvSpPr>
          <p:cNvPr id="7" name="Text 5"/>
          <p:cNvSpPr txBox="1"/>
          <p:nvPr/>
        </p:nvSpPr>
        <p:spPr>
          <a:xfrm>
            <a:off x="822960" y="3035808"/>
            <a:ext cx="2377440" cy="100584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Snyk</a:t>
            </a:r>
            <a:endParaRPr lang="en-US" sz="1800" dirty="0"/>
          </a:p>
        </p:txBody>
      </p:sp>
      <p:sp>
        <p:nvSpPr>
          <p:cNvPr id="8" name="Text 6"/>
          <p:cNvSpPr txBox="1"/>
          <p:nvPr/>
        </p:nvSpPr>
        <p:spPr>
          <a:xfrm>
            <a:off x="3291840" y="3035808"/>
            <a:ext cx="8046720" cy="1005840"/>
          </a:xfrm>
          <a:prstGeom prst="rect">
            <a:avLst/>
          </a:prstGeom>
          <a:noFill/>
          <a:ln/>
        </p:spPr>
        <p:txBody>
          <a:bodyPr wrap="square" lIns="0" tIns="0" rIns="0" bIns="0" rtlCol="0" anchor="ctr"/>
          <a:lstStyle/>
          <a:p>
            <a:pPr marL="0" indent="0">
              <a:buNone/>
            </a:pPr>
            <a:r>
              <a:rPr lang="en-US" sz="1300" dirty="0">
                <a:solidFill>
                  <a:srgbClr val="1E2761"/>
                </a:solidFill>
                <a:latin typeface="Calibri" pitchFamily="34" charset="0"/>
                <a:ea typeface="Calibri" pitchFamily="34" charset="-122"/>
                <a:cs typeface="Calibri" pitchFamily="34" charset="-120"/>
              </a:rPr>
              <a:t>Found 11 dependency CVEs. Fixed 10 via version upgrades; 1 unpatchable library documented via a .snyk policy.</a:t>
            </a:r>
            <a:endParaRPr lang="en-US" sz="1300" dirty="0"/>
          </a:p>
        </p:txBody>
      </p:sp>
      <p:sp>
        <p:nvSpPr>
          <p:cNvPr id="9" name="Shape 7"/>
          <p:cNvSpPr/>
          <p:nvPr/>
        </p:nvSpPr>
        <p:spPr>
          <a:xfrm>
            <a:off x="548640" y="4389120"/>
            <a:ext cx="11064240" cy="1234440"/>
          </a:xfrm>
          <a:prstGeom prst="roundRect">
            <a:avLst>
              <a:gd name="adj" fmla="val 7407"/>
            </a:avLst>
          </a:prstGeom>
          <a:solidFill>
            <a:srgbClr val="F7F9FC"/>
          </a:solidFill>
          <a:ln/>
        </p:spPr>
        <p:txBody>
          <a:bodyPr/>
          <a:lstStyle/>
          <a:p>
            <a:endParaRPr lang="en-US"/>
          </a:p>
        </p:txBody>
      </p:sp>
      <p:sp>
        <p:nvSpPr>
          <p:cNvPr id="10" name="Text 8"/>
          <p:cNvSpPr txBox="1"/>
          <p:nvPr/>
        </p:nvSpPr>
        <p:spPr>
          <a:xfrm>
            <a:off x="822960" y="4498848"/>
            <a:ext cx="2377440" cy="100584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SonarCloud</a:t>
            </a:r>
            <a:endParaRPr lang="en-US" sz="1800" dirty="0"/>
          </a:p>
        </p:txBody>
      </p:sp>
      <p:sp>
        <p:nvSpPr>
          <p:cNvPr id="11" name="Text 9"/>
          <p:cNvSpPr txBox="1"/>
          <p:nvPr/>
        </p:nvSpPr>
        <p:spPr>
          <a:xfrm>
            <a:off x="3291840" y="4498848"/>
            <a:ext cx="8046720" cy="1005840"/>
          </a:xfrm>
          <a:prstGeom prst="rect">
            <a:avLst/>
          </a:prstGeom>
          <a:noFill/>
          <a:ln/>
        </p:spPr>
        <p:txBody>
          <a:bodyPr wrap="square" lIns="0" tIns="0" rIns="0" bIns="0" rtlCol="0" anchor="ctr"/>
          <a:lstStyle/>
          <a:p>
            <a:pPr marL="0" indent="0">
              <a:buNone/>
            </a:pPr>
            <a:r>
              <a:rPr lang="en-US" sz="1300" dirty="0">
                <a:solidFill>
                  <a:srgbClr val="1E2761"/>
                </a:solidFill>
                <a:latin typeface="Calibri" pitchFamily="34" charset="0"/>
                <a:ea typeface="Calibri" pitchFamily="34" charset="-122"/>
                <a:cs typeface="Calibri" pitchFamily="34" charset="-120"/>
              </a:rPr>
              <a:t>Found 2 real vulnerabilities (weak password hashing, non-serializable session objects). One flagged issue confirmed a false positive.</a:t>
            </a:r>
            <a:endParaRPr lang="en-US" sz="1300" dirty="0"/>
          </a:p>
        </p:txBody>
      </p:sp>
      <p:sp>
        <p:nvSpPr>
          <p:cNvPr id="12" name="Text 10"/>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13" name="Text 11"/>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731520"/>
          </a:xfrm>
          <a:prstGeom prst="rect">
            <a:avLst/>
          </a:prstGeom>
          <a:noFill/>
          <a:ln/>
        </p:spPr>
        <p:txBody>
          <a:bodyPr wrap="square" lIns="0" tIns="0" rIns="0" bIns="0" rtlCol="0" anchor="ctr"/>
          <a:lstStyle/>
          <a:p>
            <a:pPr marL="0" indent="0">
              <a:buNone/>
            </a:pPr>
            <a:r>
              <a:rPr lang="en-US" sz="3200" b="1" dirty="0">
                <a:solidFill>
                  <a:srgbClr val="1E2761"/>
                </a:solidFill>
                <a:latin typeface="Cambria" pitchFamily="34" charset="0"/>
                <a:ea typeface="Cambria" pitchFamily="34" charset="-122"/>
                <a:cs typeface="Cambria" pitchFamily="34" charset="-120"/>
              </a:rPr>
              <a:t>Key Findings</a:t>
            </a:r>
            <a:endParaRPr lang="en-US" sz="3200" dirty="0"/>
          </a:p>
        </p:txBody>
      </p:sp>
      <p:sp>
        <p:nvSpPr>
          <p:cNvPr id="3" name="Shape 1"/>
          <p:cNvSpPr/>
          <p:nvPr/>
        </p:nvSpPr>
        <p:spPr>
          <a:xfrm>
            <a:off x="548640" y="1463040"/>
            <a:ext cx="384048" cy="384048"/>
          </a:xfrm>
          <a:prstGeom prst="ellipse">
            <a:avLst/>
          </a:prstGeom>
          <a:solidFill>
            <a:srgbClr val="1E2761"/>
          </a:solidFill>
          <a:ln/>
        </p:spPr>
        <p:txBody>
          <a:bodyPr/>
          <a:lstStyle/>
          <a:p>
            <a:endParaRPr lang="en-US"/>
          </a:p>
        </p:txBody>
      </p:sp>
      <p:sp>
        <p:nvSpPr>
          <p:cNvPr id="4" name="Text 2"/>
          <p:cNvSpPr txBox="1"/>
          <p:nvPr/>
        </p:nvSpPr>
        <p:spPr>
          <a:xfrm>
            <a:off x="548640" y="146304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143000" y="1417320"/>
            <a:ext cx="10332720" cy="548640"/>
          </a:xfrm>
          <a:prstGeom prst="rect">
            <a:avLst/>
          </a:prstGeom>
          <a:noFill/>
          <a:ln/>
        </p:spPr>
        <p:txBody>
          <a:bodyPr wrap="square" lIns="0" tIns="0" rIns="0" bIns="0" rtlCol="0" anchor="ctr"/>
          <a:lstStyle/>
          <a:p>
            <a:pPr marL="0" indent="0">
              <a:buNone/>
            </a:pPr>
            <a:r>
              <a:rPr lang="en-US" sz="1500" dirty="0">
                <a:solidFill>
                  <a:srgbClr val="1E2761"/>
                </a:solidFill>
                <a:latin typeface="Calibri" pitchFamily="34" charset="0"/>
                <a:ea typeface="Calibri" pitchFamily="34" charset="-122"/>
                <a:cs typeface="Calibri" pitchFamily="34" charset="-120"/>
              </a:rPr>
              <a:t>Search silently excluded courses missing a category/tag/creator association</a:t>
            </a:r>
            <a:endParaRPr lang="en-US" sz="1500" dirty="0"/>
          </a:p>
        </p:txBody>
      </p:sp>
      <p:sp>
        <p:nvSpPr>
          <p:cNvPr id="6" name="Shape 4"/>
          <p:cNvSpPr/>
          <p:nvPr/>
        </p:nvSpPr>
        <p:spPr>
          <a:xfrm>
            <a:off x="548640" y="2176272"/>
            <a:ext cx="384048" cy="384048"/>
          </a:xfrm>
          <a:prstGeom prst="ellipse">
            <a:avLst/>
          </a:prstGeom>
          <a:solidFill>
            <a:srgbClr val="1E2761"/>
          </a:solidFill>
          <a:ln/>
        </p:spPr>
        <p:txBody>
          <a:bodyPr/>
          <a:lstStyle/>
          <a:p>
            <a:endParaRPr lang="en-US"/>
          </a:p>
        </p:txBody>
      </p:sp>
      <p:sp>
        <p:nvSpPr>
          <p:cNvPr id="7" name="Text 5"/>
          <p:cNvSpPr txBox="1"/>
          <p:nvPr/>
        </p:nvSpPr>
        <p:spPr>
          <a:xfrm>
            <a:off x="548640" y="217627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1143000" y="2130552"/>
            <a:ext cx="10332720" cy="548640"/>
          </a:xfrm>
          <a:prstGeom prst="rect">
            <a:avLst/>
          </a:prstGeom>
          <a:noFill/>
          <a:ln/>
        </p:spPr>
        <p:txBody>
          <a:bodyPr wrap="square" lIns="0" tIns="0" rIns="0" bIns="0" rtlCol="0" anchor="ctr"/>
          <a:lstStyle/>
          <a:p>
            <a:r>
              <a:rPr lang="en-US" sz="1500" dirty="0">
                <a:solidFill>
                  <a:srgbClr val="1E2761"/>
                </a:solidFill>
                <a:latin typeface="Calibri" pitchFamily="34" charset="0"/>
                <a:ea typeface="Calibri" pitchFamily="34" charset="-122"/>
                <a:cs typeface="Calibri" pitchFamily="34" charset="-120"/>
              </a:rPr>
              <a:t>CarrelloManager.fetchCarrello() was completely non-functional (SQL statements that threw on every call and unimplemented stubs)</a:t>
            </a:r>
            <a:endParaRPr lang="en-US" sz="1500" dirty="0"/>
          </a:p>
        </p:txBody>
      </p:sp>
      <p:sp>
        <p:nvSpPr>
          <p:cNvPr id="9" name="Shape 7"/>
          <p:cNvSpPr/>
          <p:nvPr/>
        </p:nvSpPr>
        <p:spPr>
          <a:xfrm>
            <a:off x="548640" y="2889504"/>
            <a:ext cx="384048" cy="384048"/>
          </a:xfrm>
          <a:prstGeom prst="ellipse">
            <a:avLst/>
          </a:prstGeom>
          <a:solidFill>
            <a:srgbClr val="1E2761"/>
          </a:solidFill>
          <a:ln/>
        </p:spPr>
        <p:txBody>
          <a:bodyPr/>
          <a:lstStyle/>
          <a:p>
            <a:endParaRPr lang="en-US"/>
          </a:p>
        </p:txBody>
      </p:sp>
      <p:sp>
        <p:nvSpPr>
          <p:cNvPr id="10" name="Text 8"/>
          <p:cNvSpPr txBox="1"/>
          <p:nvPr/>
        </p:nvSpPr>
        <p:spPr>
          <a:xfrm>
            <a:off x="548640" y="2889504"/>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143000" y="2843784"/>
            <a:ext cx="10332720" cy="548640"/>
          </a:xfrm>
          <a:prstGeom prst="rect">
            <a:avLst/>
          </a:prstGeom>
          <a:noFill/>
          <a:ln/>
        </p:spPr>
        <p:txBody>
          <a:bodyPr wrap="square" lIns="0" tIns="0" rIns="0" bIns="0" rtlCol="0" anchor="ctr"/>
          <a:lstStyle/>
          <a:p>
            <a:r>
              <a:rPr lang="en-US" sz="1500" dirty="0">
                <a:solidFill>
                  <a:srgbClr val="1E2761"/>
                </a:solidFill>
                <a:latin typeface="Calibri" pitchFamily="34" charset="0"/>
                <a:ea typeface="Calibri" pitchFamily="34" charset="-122"/>
                <a:cs typeface="Calibri" pitchFamily="34" charset="-120"/>
              </a:rPr>
              <a:t>Two independent broken UPDATE queries found in different Manager classes (Several methods/lines of unreachable  or broken code)</a:t>
            </a:r>
            <a:endParaRPr lang="en-US" sz="1500" dirty="0"/>
          </a:p>
        </p:txBody>
      </p:sp>
      <p:sp>
        <p:nvSpPr>
          <p:cNvPr id="12" name="Shape 10"/>
          <p:cNvSpPr/>
          <p:nvPr/>
        </p:nvSpPr>
        <p:spPr>
          <a:xfrm>
            <a:off x="548640" y="3602736"/>
            <a:ext cx="384048" cy="384048"/>
          </a:xfrm>
          <a:prstGeom prst="ellipse">
            <a:avLst/>
          </a:prstGeom>
          <a:solidFill>
            <a:srgbClr val="1E2761"/>
          </a:solidFill>
          <a:ln/>
        </p:spPr>
        <p:txBody>
          <a:bodyPr/>
          <a:lstStyle/>
          <a:p>
            <a:endParaRPr lang="en-US"/>
          </a:p>
        </p:txBody>
      </p:sp>
      <p:sp>
        <p:nvSpPr>
          <p:cNvPr id="13" name="Text 11"/>
          <p:cNvSpPr txBox="1"/>
          <p:nvPr/>
        </p:nvSpPr>
        <p:spPr>
          <a:xfrm>
            <a:off x="548640" y="360273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4" name="Text 12"/>
          <p:cNvSpPr txBox="1"/>
          <p:nvPr/>
        </p:nvSpPr>
        <p:spPr>
          <a:xfrm>
            <a:off x="1143000" y="3557016"/>
            <a:ext cx="10332720" cy="548640"/>
          </a:xfrm>
          <a:prstGeom prst="rect">
            <a:avLst/>
          </a:prstGeom>
          <a:noFill/>
          <a:ln/>
        </p:spPr>
        <p:txBody>
          <a:bodyPr wrap="square" lIns="0" tIns="0" rIns="0" bIns="0" rtlCol="0" anchor="ctr"/>
          <a:lstStyle/>
          <a:p>
            <a:pPr marL="0" indent="0">
              <a:buNone/>
            </a:pPr>
            <a:r>
              <a:rPr lang="en-US" sz="1500" dirty="0">
                <a:solidFill>
                  <a:srgbClr val="1E2761"/>
                </a:solidFill>
                <a:latin typeface="Calibri" pitchFamily="34" charset="0"/>
                <a:ea typeface="Calibri" pitchFamily="34" charset="-122"/>
                <a:cs typeface="Calibri" pitchFamily="34" charset="-120"/>
              </a:rPr>
              <a:t>Weak (SHA-1) password hashing, replaced with bcrypt, verified end to end</a:t>
            </a:r>
            <a:endParaRPr lang="en-US" sz="1500" dirty="0"/>
          </a:p>
        </p:txBody>
      </p:sp>
      <p:sp>
        <p:nvSpPr>
          <p:cNvPr id="15" name="Shape 13"/>
          <p:cNvSpPr/>
          <p:nvPr/>
        </p:nvSpPr>
        <p:spPr>
          <a:xfrm>
            <a:off x="548640" y="4315968"/>
            <a:ext cx="384048" cy="384048"/>
          </a:xfrm>
          <a:prstGeom prst="ellipse">
            <a:avLst/>
          </a:prstGeom>
          <a:solidFill>
            <a:srgbClr val="1E2761"/>
          </a:solidFill>
          <a:ln/>
        </p:spPr>
        <p:txBody>
          <a:bodyPr/>
          <a:lstStyle/>
          <a:p>
            <a:endParaRPr lang="en-US"/>
          </a:p>
        </p:txBody>
      </p:sp>
      <p:sp>
        <p:nvSpPr>
          <p:cNvPr id="16" name="Text 14"/>
          <p:cNvSpPr txBox="1"/>
          <p:nvPr/>
        </p:nvSpPr>
        <p:spPr>
          <a:xfrm>
            <a:off x="548640" y="431596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7" name="Text 15"/>
          <p:cNvSpPr txBox="1"/>
          <p:nvPr/>
        </p:nvSpPr>
        <p:spPr>
          <a:xfrm>
            <a:off x="1143000" y="4270248"/>
            <a:ext cx="10332720" cy="548640"/>
          </a:xfrm>
          <a:prstGeom prst="rect">
            <a:avLst/>
          </a:prstGeom>
          <a:noFill/>
          <a:ln/>
        </p:spPr>
        <p:txBody>
          <a:bodyPr wrap="square" lIns="0" tIns="0" rIns="0" bIns="0" rtlCol="0" anchor="ctr"/>
          <a:lstStyle/>
          <a:p>
            <a:pPr marL="0" indent="0">
              <a:buNone/>
            </a:pPr>
            <a:r>
              <a:rPr lang="en-US" sz="1500" dirty="0">
                <a:solidFill>
                  <a:srgbClr val="1E2761"/>
                </a:solidFill>
                <a:latin typeface="Calibri" pitchFamily="34" charset="0"/>
                <a:ea typeface="Calibri" pitchFamily="34" charset="-122"/>
                <a:cs typeface="Calibri" pitchFamily="34" charset="-120"/>
              </a:rPr>
              <a:t>Non-serializable objects stored in </a:t>
            </a:r>
            <a:r>
              <a:rPr lang="en-US" sz="1500" dirty="0" err="1">
                <a:solidFill>
                  <a:srgbClr val="1E2761"/>
                </a:solidFill>
                <a:latin typeface="Calibri" pitchFamily="34" charset="0"/>
                <a:ea typeface="Calibri" pitchFamily="34" charset="-122"/>
                <a:cs typeface="Calibri" pitchFamily="34" charset="-120"/>
              </a:rPr>
              <a:t>HttpSession</a:t>
            </a:r>
            <a:r>
              <a:rPr lang="en-US" sz="1500" dirty="0">
                <a:solidFill>
                  <a:srgbClr val="1E2761"/>
                </a:solidFill>
                <a:latin typeface="Calibri" pitchFamily="34" charset="0"/>
                <a:ea typeface="Calibri" pitchFamily="34" charset="-122"/>
                <a:cs typeface="Calibri" pitchFamily="34" charset="-120"/>
              </a:rPr>
              <a:t> (Reliability) </a:t>
            </a:r>
            <a:endParaRPr lang="en-US" sz="1500" dirty="0"/>
          </a:p>
        </p:txBody>
      </p:sp>
      <p:sp>
        <p:nvSpPr>
          <p:cNvPr id="18" name="Shape 16"/>
          <p:cNvSpPr/>
          <p:nvPr/>
        </p:nvSpPr>
        <p:spPr>
          <a:xfrm>
            <a:off x="548640" y="5029200"/>
            <a:ext cx="384048" cy="384048"/>
          </a:xfrm>
          <a:prstGeom prst="ellipse">
            <a:avLst/>
          </a:prstGeom>
          <a:solidFill>
            <a:srgbClr val="1E2761"/>
          </a:solidFill>
          <a:ln/>
        </p:spPr>
        <p:txBody>
          <a:bodyPr/>
          <a:lstStyle/>
          <a:p>
            <a:endParaRPr lang="en-US"/>
          </a:p>
        </p:txBody>
      </p:sp>
      <p:sp>
        <p:nvSpPr>
          <p:cNvPr id="19" name="Text 17"/>
          <p:cNvSpPr txBox="1"/>
          <p:nvPr/>
        </p:nvSpPr>
        <p:spPr>
          <a:xfrm>
            <a:off x="548640" y="50292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0" name="Text 18"/>
          <p:cNvSpPr txBox="1"/>
          <p:nvPr/>
        </p:nvSpPr>
        <p:spPr>
          <a:xfrm>
            <a:off x="1143000" y="4983480"/>
            <a:ext cx="10332720" cy="548640"/>
          </a:xfrm>
          <a:prstGeom prst="rect">
            <a:avLst/>
          </a:prstGeom>
          <a:noFill/>
          <a:ln/>
        </p:spPr>
        <p:txBody>
          <a:bodyPr wrap="square" lIns="0" tIns="0" rIns="0" bIns="0" rtlCol="0" anchor="ctr"/>
          <a:lstStyle/>
          <a:p>
            <a:pPr marL="0" indent="0">
              <a:buNone/>
            </a:pPr>
            <a:r>
              <a:rPr lang="en-US" sz="1500" dirty="0">
                <a:solidFill>
                  <a:srgbClr val="1E2761"/>
                </a:solidFill>
                <a:latin typeface="Calibri" pitchFamily="34" charset="0"/>
                <a:ea typeface="Calibri" pitchFamily="34" charset="-122"/>
                <a:cs typeface="Calibri" pitchFamily="34" charset="-120"/>
              </a:rPr>
              <a:t>Database password was hardcoded across 3 files</a:t>
            </a:r>
            <a:endParaRPr lang="en-US" sz="1500" dirty="0"/>
          </a:p>
        </p:txBody>
      </p:sp>
      <p:sp>
        <p:nvSpPr>
          <p:cNvPr id="21" name="Text 19"/>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22" name="Text 20"/>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a:effectLst/>
      </p:bgPr>
    </p:bg>
    <p:spTree>
      <p:nvGrpSpPr>
        <p:cNvPr id="1" name=""/>
        <p:cNvGrpSpPr/>
        <p:nvPr/>
      </p:nvGrpSpPr>
      <p:grpSpPr>
        <a:xfrm>
          <a:off x="0" y="0"/>
          <a:ext cx="0" cy="0"/>
          <a:chOff x="0" y="0"/>
          <a:chExt cx="0" cy="0"/>
        </a:xfrm>
      </p:grpSpPr>
      <p:sp>
        <p:nvSpPr>
          <p:cNvPr id="2" name="Text 0"/>
          <p:cNvSpPr txBox="1"/>
          <p:nvPr/>
        </p:nvSpPr>
        <p:spPr>
          <a:xfrm>
            <a:off x="822960" y="640080"/>
            <a:ext cx="1005840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Conclusions</a:t>
            </a:r>
            <a:endParaRPr lang="en-US" sz="3600" dirty="0"/>
          </a:p>
        </p:txBody>
      </p:sp>
      <p:sp>
        <p:nvSpPr>
          <p:cNvPr id="3" name="Text 1"/>
          <p:cNvSpPr txBox="1"/>
          <p:nvPr/>
        </p:nvSpPr>
        <p:spPr>
          <a:xfrm>
            <a:off x="822960" y="1828800"/>
            <a:ext cx="10332720" cy="3657600"/>
          </a:xfrm>
          <a:prstGeom prst="rect">
            <a:avLst/>
          </a:prstGeom>
          <a:noFill/>
          <a:ln/>
        </p:spPr>
        <p:txBody>
          <a:bodyPr wrap="square" lIns="0" tIns="0" rIns="0" bIns="0" rtlCol="0" anchor="t"/>
          <a:lstStyle/>
          <a:p>
            <a:pPr marL="342900" indent="-342900">
              <a:spcAft>
                <a:spcPts val="1800"/>
              </a:spcAft>
              <a:buSzPct val="100000"/>
              <a:buChar char="•"/>
            </a:pPr>
            <a:r>
              <a:rPr lang="en-US" sz="1700" dirty="0">
                <a:solidFill>
                  <a:srgbClr val="CADCFC"/>
                </a:solidFill>
                <a:latin typeface="Calibri" pitchFamily="34" charset="0"/>
                <a:ea typeface="Calibri" pitchFamily="34" charset="-122"/>
                <a:cs typeface="Calibri" pitchFamily="34" charset="-120"/>
              </a:rPr>
              <a:t>Each technique caught a different, complementary class of issue, no single tool would have found everything.</a:t>
            </a:r>
            <a:endParaRPr lang="en-US" sz="1700" dirty="0"/>
          </a:p>
          <a:p>
            <a:pPr marL="342900" indent="-342900">
              <a:spcAft>
                <a:spcPts val="1800"/>
              </a:spcAft>
              <a:buSzPct val="100000"/>
              <a:buChar char="•"/>
            </a:pPr>
            <a:r>
              <a:rPr lang="en-US" sz="1700" dirty="0">
                <a:solidFill>
                  <a:srgbClr val="CADCFC"/>
                </a:solidFill>
                <a:latin typeface="Calibri" pitchFamily="34" charset="0"/>
                <a:ea typeface="Calibri" pitchFamily="34" charset="-122"/>
                <a:cs typeface="Calibri" pitchFamily="34" charset="-120"/>
              </a:rPr>
              <a:t>Formal verification proves properties for all inputs meeting a contract while testing demonstrates behavior on realistic scenarios.</a:t>
            </a:r>
            <a:endParaRPr lang="en-US" sz="1700" dirty="0"/>
          </a:p>
          <a:p>
            <a:pPr marL="342900" indent="-342900">
              <a:spcAft>
                <a:spcPts val="1800"/>
              </a:spcAft>
              <a:buSzPct val="100000"/>
              <a:buChar char="•"/>
            </a:pPr>
            <a:r>
              <a:rPr lang="en-US" sz="1700" dirty="0">
                <a:solidFill>
                  <a:srgbClr val="CADCFC"/>
                </a:solidFill>
                <a:latin typeface="Calibri" pitchFamily="34" charset="0"/>
                <a:ea typeface="Calibri" pitchFamily="34" charset="-122"/>
                <a:cs typeface="Calibri" pitchFamily="34" charset="-120"/>
              </a:rPr>
              <a:t>Containerization and security scanning both surfaced real, previously unknown defects in a five-year-old codebase.</a:t>
            </a:r>
            <a:endParaRPr lang="en-US" sz="1700" dirty="0"/>
          </a:p>
          <a:p>
            <a:pPr marL="342900" indent="-342900">
              <a:spcAft>
                <a:spcPts val="1800"/>
              </a:spcAft>
              <a:buSzPct val="100000"/>
              <a:buChar char="•"/>
            </a:pPr>
            <a:r>
              <a:rPr lang="en-US" sz="1700" dirty="0">
                <a:solidFill>
                  <a:srgbClr val="CADCFC"/>
                </a:solidFill>
                <a:latin typeface="Calibri" pitchFamily="34" charset="0"/>
                <a:ea typeface="Calibri" pitchFamily="34" charset="-122"/>
                <a:cs typeface="Calibri" pitchFamily="34" charset="-120"/>
              </a:rPr>
              <a:t>The result is a real, deployed, tested, and security-reviewed application.</a:t>
            </a:r>
            <a:endParaRPr lang="en-US" sz="1700" dirty="0"/>
          </a:p>
        </p:txBody>
      </p:sp>
      <p:sp>
        <p:nvSpPr>
          <p:cNvPr id="4" name="Text 2"/>
          <p:cNvSpPr txBox="1"/>
          <p:nvPr/>
        </p:nvSpPr>
        <p:spPr>
          <a:xfrm>
            <a:off x="457200" y="6492240"/>
            <a:ext cx="5486400" cy="274320"/>
          </a:xfrm>
          <a:prstGeom prst="rect">
            <a:avLst/>
          </a:prstGeom>
          <a:noFill/>
          <a:ln/>
        </p:spPr>
        <p:txBody>
          <a:bodyPr wrap="square" lIns="0" tIns="0" rIns="0" bIns="0" rtlCol="0" anchor="ctr"/>
          <a:lstStyle/>
          <a:p>
            <a:pPr marL="0" indent="0">
              <a:buNone/>
            </a:pPr>
            <a:r>
              <a:rPr lang="en-US" sz="1000" dirty="0" err="1">
                <a:solidFill>
                  <a:srgbClr val="5B6B8C"/>
                </a:solidFill>
                <a:latin typeface="Calibri" pitchFamily="34" charset="0"/>
                <a:ea typeface="Calibri" pitchFamily="34" charset="-122"/>
                <a:cs typeface="Calibri" pitchFamily="34" charset="-120"/>
              </a:rPr>
              <a:t>LevelUp</a:t>
            </a:r>
            <a:r>
              <a:rPr lang="en-US" sz="1000" dirty="0">
                <a:solidFill>
                  <a:srgbClr val="5B6B8C"/>
                </a:solidFill>
                <a:latin typeface="Calibri" pitchFamily="34" charset="0"/>
                <a:ea typeface="Calibri" pitchFamily="34" charset="-122"/>
                <a:cs typeface="Calibri" pitchFamily="34" charset="-120"/>
              </a:rPr>
              <a:t> - Software Dependability</a:t>
            </a:r>
            <a:endParaRPr lang="en-US" sz="1000" dirty="0"/>
          </a:p>
        </p:txBody>
      </p:sp>
      <p:sp>
        <p:nvSpPr>
          <p:cNvPr id="5" name="Text 3"/>
          <p:cNvSpPr txBox="1"/>
          <p:nvPr/>
        </p:nvSpPr>
        <p:spPr>
          <a:xfrm>
            <a:off x="11274552" y="6492240"/>
            <a:ext cx="457200" cy="274320"/>
          </a:xfrm>
          <a:prstGeom prst="rect">
            <a:avLst/>
          </a:prstGeom>
          <a:noFill/>
          <a:ln/>
        </p:spPr>
        <p:txBody>
          <a:bodyPr wrap="square" lIns="0" tIns="0" rIns="0" bIns="0" rtlCol="0" anchor="ctr"/>
          <a:lstStyle/>
          <a:p>
            <a:pPr marL="0" indent="0" algn="r">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TotalTime>
  <Words>1006</Words>
  <Application>Microsoft Office PowerPoint</Application>
  <PresentationFormat>Widescreen</PresentationFormat>
  <Paragraphs>176</Paragraphs>
  <Slides>13</Slides>
  <Notes>13</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13</vt:i4>
      </vt:variant>
    </vt:vector>
  </HeadingPairs>
  <TitlesOfParts>
    <vt:vector size="17" baseType="lpstr">
      <vt:lpstr>Arial</vt:lpstr>
      <vt:lpstr>Calibri</vt:lpstr>
      <vt:lpstr>Cambria</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PIERPAOLO CAMMARDELLA</cp:lastModifiedBy>
  <cp:revision>7</cp:revision>
  <dcterms:created xsi:type="dcterms:W3CDTF">2026-08-31T14:16:57Z</dcterms:created>
  <dcterms:modified xsi:type="dcterms:W3CDTF">2026-09-08T13:15:32Z</dcterms:modified>
</cp:coreProperties>
</file>